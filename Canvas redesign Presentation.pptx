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15"/>
  </p:notesMasterIdLst>
  <p:sldIdLst>
    <p:sldId id="257" r:id="rId2"/>
    <p:sldId id="279" r:id="rId3"/>
    <p:sldId id="284" r:id="rId4"/>
    <p:sldId id="283" r:id="rId5"/>
    <p:sldId id="274" r:id="rId6"/>
    <p:sldId id="285" r:id="rId7"/>
    <p:sldId id="286" r:id="rId8"/>
    <p:sldId id="287" r:id="rId9"/>
    <p:sldId id="288" r:id="rId10"/>
    <p:sldId id="289" r:id="rId11"/>
    <p:sldId id="295" r:id="rId12"/>
    <p:sldId id="296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733"/>
    <a:srgbClr val="E4545B"/>
    <a:srgbClr val="791612"/>
    <a:srgbClr val="E247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3E1EC-0A9D-8D16-CCDF-1F0D3F56C241}" v="6" dt="2026-04-01T16:22:00.101"/>
    <p1510:client id="{31D156B2-02F1-7E73-FB0E-2621B609D53E}" v="828" dt="2026-04-01T12:46:59.399"/>
    <p1510:client id="{4B0439AF-1CE1-AA44-9EE8-E691B6100F9F}" v="4204" dt="2026-04-02T08:05:32.319"/>
    <p1510:client id="{63EC4779-5218-200C-F3FC-2978B39E2F92}" v="1151" dt="2026-04-01T11:21:38.627"/>
    <p1510:client id="{7A7BF699-2F77-D2E7-61BC-423FB78F1DF5}" v="981" dt="2026-04-01T14:36:34.054"/>
    <p1510:client id="{7E70A4B4-3789-44E6-9512-CEC96BC5EA07}" v="2749" dt="2026-04-01T19:06:09.505"/>
    <p1510:client id="{D0D540E8-6B50-694F-A405-D91FA5EABF8F}" v="1" dt="2026-04-01T16:39:58.046"/>
    <p1510:client id="{DEBE439C-722B-8F05-F1BF-6BA88AF19BE4}" v="2569" dt="2026-04-01T15:03:40.855"/>
    <p1510:client id="{EA38743D-AD04-7A69-9CEB-06AD97AC37CB}" v="1821" dt="2026-04-01T11:58:41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B41CC-293A-4A96-A116-151333A02FDA}" type="doc">
      <dgm:prSet loTypeId="urn:microsoft.com/office/officeart/2005/8/layout/process5" loCatId="process" qsTypeId="urn:microsoft.com/office/officeart/2005/8/quickstyle/simple4#1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3E5A8561-68A0-4A1E-B071-99F5672BC117}">
      <dgm:prSet/>
      <dgm:spPr>
        <a:solidFill>
          <a:srgbClr val="FF0000"/>
        </a:solidFill>
      </dgm:spPr>
      <dgm:t>
        <a:bodyPr/>
        <a:lstStyle/>
        <a:p>
          <a:r>
            <a:rPr lang="en-US" b="1"/>
            <a:t>Why did we choose the Canvas app?</a:t>
          </a:r>
        </a:p>
      </dgm:t>
    </dgm:pt>
    <dgm:pt modelId="{71C07FC3-35B2-4266-805C-32490EA103DC}" type="parTrans" cxnId="{64EADB5D-F15B-4B15-95D8-E8BB6BD0D42B}">
      <dgm:prSet/>
      <dgm:spPr/>
      <dgm:t>
        <a:bodyPr/>
        <a:lstStyle/>
        <a:p>
          <a:endParaRPr lang="en-US"/>
        </a:p>
      </dgm:t>
    </dgm:pt>
    <dgm:pt modelId="{D014F448-949F-44F3-9917-AEAA0FF9EF39}" type="sibTrans" cxnId="{64EADB5D-F15B-4B15-95D8-E8BB6BD0D42B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endParaRPr lang="en-US"/>
        </a:p>
      </dgm:t>
    </dgm:pt>
    <dgm:pt modelId="{5A09F83F-CB24-4EE9-AE0A-392CB1C715A6}">
      <dgm:prSet/>
      <dgm:spPr>
        <a:solidFill>
          <a:srgbClr val="FF0000"/>
        </a:solidFill>
      </dgm:spPr>
      <dgm:t>
        <a:bodyPr/>
        <a:lstStyle/>
        <a:p>
          <a:r>
            <a:rPr lang="en-US" b="0"/>
            <a:t>We personally experienced issues while using Canvas that we wanted to address.</a:t>
          </a:r>
        </a:p>
      </dgm:t>
    </dgm:pt>
    <dgm:pt modelId="{0EF07D8F-C4AA-46B4-82E8-664D4D0CB1B8}" type="parTrans" cxnId="{0956915E-80F5-407C-9C34-E82B7A08F95F}">
      <dgm:prSet/>
      <dgm:spPr/>
      <dgm:t>
        <a:bodyPr/>
        <a:lstStyle/>
        <a:p>
          <a:endParaRPr lang="en-US"/>
        </a:p>
      </dgm:t>
    </dgm:pt>
    <dgm:pt modelId="{F8C6AF2D-A7BD-43EB-91C3-C60DF1E3616B}" type="sibTrans" cxnId="{0956915E-80F5-407C-9C34-E82B7A08F95F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endParaRPr lang="en-US"/>
        </a:p>
      </dgm:t>
    </dgm:pt>
    <dgm:pt modelId="{4EAD1D4D-06A3-43F5-BB41-9B366E332017}">
      <dgm:prSet/>
      <dgm:spPr>
        <a:solidFill>
          <a:srgbClr val="FF0000"/>
        </a:solidFill>
      </dgm:spPr>
      <dgm:t>
        <a:bodyPr/>
        <a:lstStyle/>
        <a:p>
          <a:r>
            <a:rPr lang="en-US" b="0"/>
            <a:t>The Canvas app is relevant to our daily academic tasks. </a:t>
          </a:r>
        </a:p>
      </dgm:t>
    </dgm:pt>
    <dgm:pt modelId="{3E8E5114-671C-453F-88E0-63565D60CC3B}" type="parTrans" cxnId="{8DBE1826-6856-4ADC-9372-D10E9B8AF4DA}">
      <dgm:prSet/>
      <dgm:spPr/>
      <dgm:t>
        <a:bodyPr/>
        <a:lstStyle/>
        <a:p>
          <a:endParaRPr lang="en-US"/>
        </a:p>
      </dgm:t>
    </dgm:pt>
    <dgm:pt modelId="{8DDB0727-ECDA-4FEE-8219-899CBADD932D}" type="sibTrans" cxnId="{8DBE1826-6856-4ADC-9372-D10E9B8AF4DA}">
      <dgm:prSet/>
      <dgm:spPr/>
      <dgm:t>
        <a:bodyPr/>
        <a:lstStyle/>
        <a:p>
          <a:endParaRPr lang="en-US"/>
        </a:p>
      </dgm:t>
    </dgm:pt>
    <dgm:pt modelId="{13CF6228-8E53-47F6-B677-CC30D068D834}">
      <dgm:prSet/>
      <dgm:spPr>
        <a:solidFill>
          <a:srgbClr val="FF0000"/>
        </a:solidFill>
      </dgm:spPr>
      <dgm:t>
        <a:bodyPr/>
        <a:lstStyle/>
        <a:p>
          <a:r>
            <a:rPr lang="en-US" b="0"/>
            <a:t>Canvas is widely used by students, which makes gathering meaningful data easy.</a:t>
          </a:r>
        </a:p>
      </dgm:t>
    </dgm:pt>
    <dgm:pt modelId="{1E2FF4B3-A3ED-43DE-901C-7820752B3E8F}" type="sibTrans" cxnId="{1700FBC3-00AF-41B7-866E-A00BEFB74A58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endParaRPr lang="en-US"/>
        </a:p>
      </dgm:t>
    </dgm:pt>
    <dgm:pt modelId="{7CBDC12A-4A51-4DAE-AADC-37F533485A51}" type="parTrans" cxnId="{1700FBC3-00AF-41B7-866E-A00BEFB74A58}">
      <dgm:prSet/>
      <dgm:spPr/>
      <dgm:t>
        <a:bodyPr/>
        <a:lstStyle/>
        <a:p>
          <a:endParaRPr lang="en-US"/>
        </a:p>
      </dgm:t>
    </dgm:pt>
    <dgm:pt modelId="{60417CBE-0B13-0640-9463-4A364F3941F7}" type="pres">
      <dgm:prSet presAssocID="{F1BB41CC-293A-4A96-A116-151333A02FDA}" presName="diagram" presStyleCnt="0">
        <dgm:presLayoutVars>
          <dgm:dir/>
          <dgm:resizeHandles val="exact"/>
        </dgm:presLayoutVars>
      </dgm:prSet>
      <dgm:spPr/>
    </dgm:pt>
    <dgm:pt modelId="{2735288E-6DB4-FE4F-9B8E-A6820BFBE899}" type="pres">
      <dgm:prSet presAssocID="{3E5A8561-68A0-4A1E-B071-99F5672BC117}" presName="node" presStyleLbl="node1" presStyleIdx="0" presStyleCnt="4">
        <dgm:presLayoutVars>
          <dgm:bulletEnabled val="1"/>
        </dgm:presLayoutVars>
      </dgm:prSet>
      <dgm:spPr/>
    </dgm:pt>
    <dgm:pt modelId="{29B95773-42B0-9541-9042-C6974481A6D6}" type="pres">
      <dgm:prSet presAssocID="{D014F448-949F-44F3-9917-AEAA0FF9EF39}" presName="sibTrans" presStyleLbl="sibTrans2D1" presStyleIdx="0" presStyleCnt="3"/>
      <dgm:spPr/>
    </dgm:pt>
    <dgm:pt modelId="{3AF3E8D6-C6A2-3F4C-8EF1-CE522F651555}" type="pres">
      <dgm:prSet presAssocID="{D014F448-949F-44F3-9917-AEAA0FF9EF39}" presName="connectorText" presStyleLbl="sibTrans2D1" presStyleIdx="0" presStyleCnt="3"/>
      <dgm:spPr/>
    </dgm:pt>
    <dgm:pt modelId="{B0FD98D0-61B2-3640-8815-F9F375638CC3}" type="pres">
      <dgm:prSet presAssocID="{13CF6228-8E53-47F6-B677-CC30D068D834}" presName="node" presStyleLbl="node1" presStyleIdx="1" presStyleCnt="4">
        <dgm:presLayoutVars>
          <dgm:bulletEnabled val="1"/>
        </dgm:presLayoutVars>
      </dgm:prSet>
      <dgm:spPr/>
    </dgm:pt>
    <dgm:pt modelId="{6BB2B02C-0AEC-984B-ADE2-1CF0681F39D0}" type="pres">
      <dgm:prSet presAssocID="{1E2FF4B3-A3ED-43DE-901C-7820752B3E8F}" presName="sibTrans" presStyleLbl="sibTrans2D1" presStyleIdx="1" presStyleCnt="3"/>
      <dgm:spPr/>
    </dgm:pt>
    <dgm:pt modelId="{D89551E3-7EAA-2E41-A742-ED771210B618}" type="pres">
      <dgm:prSet presAssocID="{1E2FF4B3-A3ED-43DE-901C-7820752B3E8F}" presName="connectorText" presStyleLbl="sibTrans2D1" presStyleIdx="1" presStyleCnt="3"/>
      <dgm:spPr/>
    </dgm:pt>
    <dgm:pt modelId="{7A890C85-420B-A644-9AB0-44D6CBFD7CF9}" type="pres">
      <dgm:prSet presAssocID="{5A09F83F-CB24-4EE9-AE0A-392CB1C715A6}" presName="node" presStyleLbl="node1" presStyleIdx="2" presStyleCnt="4">
        <dgm:presLayoutVars>
          <dgm:bulletEnabled val="1"/>
        </dgm:presLayoutVars>
      </dgm:prSet>
      <dgm:spPr/>
    </dgm:pt>
    <dgm:pt modelId="{CA3F0B93-DDC1-D948-8B33-B52F05DA9A77}" type="pres">
      <dgm:prSet presAssocID="{F8C6AF2D-A7BD-43EB-91C3-C60DF1E3616B}" presName="sibTrans" presStyleLbl="sibTrans2D1" presStyleIdx="2" presStyleCnt="3"/>
      <dgm:spPr/>
    </dgm:pt>
    <dgm:pt modelId="{A4E91ABF-E874-F04A-9AC5-2AFFA480E953}" type="pres">
      <dgm:prSet presAssocID="{F8C6AF2D-A7BD-43EB-91C3-C60DF1E3616B}" presName="connectorText" presStyleLbl="sibTrans2D1" presStyleIdx="2" presStyleCnt="3"/>
      <dgm:spPr/>
    </dgm:pt>
    <dgm:pt modelId="{342A352E-EB4B-ED4E-9C42-2B889B129AED}" type="pres">
      <dgm:prSet presAssocID="{4EAD1D4D-06A3-43F5-BB41-9B366E332017}" presName="node" presStyleLbl="node1" presStyleIdx="3" presStyleCnt="4" custLinFactNeighborX="1240" custLinFactNeighborY="-472">
        <dgm:presLayoutVars>
          <dgm:bulletEnabled val="1"/>
        </dgm:presLayoutVars>
      </dgm:prSet>
      <dgm:spPr/>
    </dgm:pt>
  </dgm:ptLst>
  <dgm:cxnLst>
    <dgm:cxn modelId="{0F0EFA0A-782B-E044-83EE-3989169373A9}" type="presOf" srcId="{5A09F83F-CB24-4EE9-AE0A-392CB1C715A6}" destId="{7A890C85-420B-A644-9AB0-44D6CBFD7CF9}" srcOrd="0" destOrd="0" presId="urn:microsoft.com/office/officeart/2005/8/layout/process5"/>
    <dgm:cxn modelId="{8DBE1826-6856-4ADC-9372-D10E9B8AF4DA}" srcId="{F1BB41CC-293A-4A96-A116-151333A02FDA}" destId="{4EAD1D4D-06A3-43F5-BB41-9B366E332017}" srcOrd="3" destOrd="0" parTransId="{3E8E5114-671C-453F-88E0-63565D60CC3B}" sibTransId="{8DDB0727-ECDA-4FEE-8219-899CBADD932D}"/>
    <dgm:cxn modelId="{64EADB5D-F15B-4B15-95D8-E8BB6BD0D42B}" srcId="{F1BB41CC-293A-4A96-A116-151333A02FDA}" destId="{3E5A8561-68A0-4A1E-B071-99F5672BC117}" srcOrd="0" destOrd="0" parTransId="{71C07FC3-35B2-4266-805C-32490EA103DC}" sibTransId="{D014F448-949F-44F3-9917-AEAA0FF9EF39}"/>
    <dgm:cxn modelId="{0956915E-80F5-407C-9C34-E82B7A08F95F}" srcId="{F1BB41CC-293A-4A96-A116-151333A02FDA}" destId="{5A09F83F-CB24-4EE9-AE0A-392CB1C715A6}" srcOrd="2" destOrd="0" parTransId="{0EF07D8F-C4AA-46B4-82E8-664D4D0CB1B8}" sibTransId="{F8C6AF2D-A7BD-43EB-91C3-C60DF1E3616B}"/>
    <dgm:cxn modelId="{1E15544F-5109-444E-8DBD-5E7FAC0599FE}" type="presOf" srcId="{F1BB41CC-293A-4A96-A116-151333A02FDA}" destId="{60417CBE-0B13-0640-9463-4A364F3941F7}" srcOrd="0" destOrd="0" presId="urn:microsoft.com/office/officeart/2005/8/layout/process5"/>
    <dgm:cxn modelId="{83DEBF57-72A7-E245-B83D-91C31791EE99}" type="presOf" srcId="{F8C6AF2D-A7BD-43EB-91C3-C60DF1E3616B}" destId="{A4E91ABF-E874-F04A-9AC5-2AFFA480E953}" srcOrd="1" destOrd="0" presId="urn:microsoft.com/office/officeart/2005/8/layout/process5"/>
    <dgm:cxn modelId="{36680979-324E-AF41-8F7A-C15F710EA120}" type="presOf" srcId="{D014F448-949F-44F3-9917-AEAA0FF9EF39}" destId="{29B95773-42B0-9541-9042-C6974481A6D6}" srcOrd="0" destOrd="0" presId="urn:microsoft.com/office/officeart/2005/8/layout/process5"/>
    <dgm:cxn modelId="{51A66890-7886-8240-997F-4C2A445DAD58}" type="presOf" srcId="{1E2FF4B3-A3ED-43DE-901C-7820752B3E8F}" destId="{D89551E3-7EAA-2E41-A742-ED771210B618}" srcOrd="1" destOrd="0" presId="urn:microsoft.com/office/officeart/2005/8/layout/process5"/>
    <dgm:cxn modelId="{B48B99A9-6A66-1744-A905-B696B5B38564}" type="presOf" srcId="{4EAD1D4D-06A3-43F5-BB41-9B366E332017}" destId="{342A352E-EB4B-ED4E-9C42-2B889B129AED}" srcOrd="0" destOrd="0" presId="urn:microsoft.com/office/officeart/2005/8/layout/process5"/>
    <dgm:cxn modelId="{B102E7BD-AD70-D242-86B0-711388E4CDC4}" type="presOf" srcId="{F8C6AF2D-A7BD-43EB-91C3-C60DF1E3616B}" destId="{CA3F0B93-DDC1-D948-8B33-B52F05DA9A77}" srcOrd="0" destOrd="0" presId="urn:microsoft.com/office/officeart/2005/8/layout/process5"/>
    <dgm:cxn modelId="{BD2D59C2-874C-184E-BE3C-7B9B950CCC8E}" type="presOf" srcId="{D014F448-949F-44F3-9917-AEAA0FF9EF39}" destId="{3AF3E8D6-C6A2-3F4C-8EF1-CE522F651555}" srcOrd="1" destOrd="0" presId="urn:microsoft.com/office/officeart/2005/8/layout/process5"/>
    <dgm:cxn modelId="{1700FBC3-00AF-41B7-866E-A00BEFB74A58}" srcId="{F1BB41CC-293A-4A96-A116-151333A02FDA}" destId="{13CF6228-8E53-47F6-B677-CC30D068D834}" srcOrd="1" destOrd="0" parTransId="{7CBDC12A-4A51-4DAE-AADC-37F533485A51}" sibTransId="{1E2FF4B3-A3ED-43DE-901C-7820752B3E8F}"/>
    <dgm:cxn modelId="{B75AAAD8-F31A-0F46-854D-C4888F42AFAA}" type="presOf" srcId="{3E5A8561-68A0-4A1E-B071-99F5672BC117}" destId="{2735288E-6DB4-FE4F-9B8E-A6820BFBE899}" srcOrd="0" destOrd="0" presId="urn:microsoft.com/office/officeart/2005/8/layout/process5"/>
    <dgm:cxn modelId="{B46650E3-1048-3B4F-B6AF-1CBEB4EF20C1}" type="presOf" srcId="{13CF6228-8E53-47F6-B677-CC30D068D834}" destId="{B0FD98D0-61B2-3640-8815-F9F375638CC3}" srcOrd="0" destOrd="0" presId="urn:microsoft.com/office/officeart/2005/8/layout/process5"/>
    <dgm:cxn modelId="{C38896E7-503D-A64E-83AA-862EF83024AE}" type="presOf" srcId="{1E2FF4B3-A3ED-43DE-901C-7820752B3E8F}" destId="{6BB2B02C-0AEC-984B-ADE2-1CF0681F39D0}" srcOrd="0" destOrd="0" presId="urn:microsoft.com/office/officeart/2005/8/layout/process5"/>
    <dgm:cxn modelId="{9A81F2C9-8E0E-C245-82C4-098BFE38152F}" type="presParOf" srcId="{60417CBE-0B13-0640-9463-4A364F3941F7}" destId="{2735288E-6DB4-FE4F-9B8E-A6820BFBE899}" srcOrd="0" destOrd="0" presId="urn:microsoft.com/office/officeart/2005/8/layout/process5"/>
    <dgm:cxn modelId="{816050CD-F900-C04F-8881-F894F504617B}" type="presParOf" srcId="{60417CBE-0B13-0640-9463-4A364F3941F7}" destId="{29B95773-42B0-9541-9042-C6974481A6D6}" srcOrd="1" destOrd="0" presId="urn:microsoft.com/office/officeart/2005/8/layout/process5"/>
    <dgm:cxn modelId="{F6189D90-C977-CA4F-9BBF-4E1FCAFFC263}" type="presParOf" srcId="{29B95773-42B0-9541-9042-C6974481A6D6}" destId="{3AF3E8D6-C6A2-3F4C-8EF1-CE522F651555}" srcOrd="0" destOrd="0" presId="urn:microsoft.com/office/officeart/2005/8/layout/process5"/>
    <dgm:cxn modelId="{3BFAADA1-B6FE-494E-903C-AFE5BB230900}" type="presParOf" srcId="{60417CBE-0B13-0640-9463-4A364F3941F7}" destId="{B0FD98D0-61B2-3640-8815-F9F375638CC3}" srcOrd="2" destOrd="0" presId="urn:microsoft.com/office/officeart/2005/8/layout/process5"/>
    <dgm:cxn modelId="{18C00D4F-C0B7-8342-8B81-AF9CA4E7B916}" type="presParOf" srcId="{60417CBE-0B13-0640-9463-4A364F3941F7}" destId="{6BB2B02C-0AEC-984B-ADE2-1CF0681F39D0}" srcOrd="3" destOrd="0" presId="urn:microsoft.com/office/officeart/2005/8/layout/process5"/>
    <dgm:cxn modelId="{2A7C40F0-69B7-2A41-8194-E7EACF61D039}" type="presParOf" srcId="{6BB2B02C-0AEC-984B-ADE2-1CF0681F39D0}" destId="{D89551E3-7EAA-2E41-A742-ED771210B618}" srcOrd="0" destOrd="0" presId="urn:microsoft.com/office/officeart/2005/8/layout/process5"/>
    <dgm:cxn modelId="{5622596B-1898-494C-88EA-6EFAFA7A24DA}" type="presParOf" srcId="{60417CBE-0B13-0640-9463-4A364F3941F7}" destId="{7A890C85-420B-A644-9AB0-44D6CBFD7CF9}" srcOrd="4" destOrd="0" presId="urn:microsoft.com/office/officeart/2005/8/layout/process5"/>
    <dgm:cxn modelId="{7037C76A-8ED4-7145-A3F1-6C5C81D9558E}" type="presParOf" srcId="{60417CBE-0B13-0640-9463-4A364F3941F7}" destId="{CA3F0B93-DDC1-D948-8B33-B52F05DA9A77}" srcOrd="5" destOrd="0" presId="urn:microsoft.com/office/officeart/2005/8/layout/process5"/>
    <dgm:cxn modelId="{35AB5D0D-6F62-7E46-95F0-1325159668F8}" type="presParOf" srcId="{CA3F0B93-DDC1-D948-8B33-B52F05DA9A77}" destId="{A4E91ABF-E874-F04A-9AC5-2AFFA480E953}" srcOrd="0" destOrd="0" presId="urn:microsoft.com/office/officeart/2005/8/layout/process5"/>
    <dgm:cxn modelId="{4AAF8811-1031-9945-9BDA-B42B0F199F32}" type="presParOf" srcId="{60417CBE-0B13-0640-9463-4A364F3941F7}" destId="{342A352E-EB4B-ED4E-9C42-2B889B129AED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5306B-08C4-4BCA-A94B-B7CC1B1788F7}" type="doc">
      <dgm:prSet loTypeId="urn:microsoft.com/office/officeart/2018/5/layout/IconCircleLabelList" loCatId="icon" qsTypeId="urn:microsoft.com/office/officeart/2005/8/quickstyle/simple5#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62D27B5-3A9C-4418-92FC-689BEC87F9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>
              <a:solidFill>
                <a:schemeClr val="tx1"/>
              </a:solidFill>
            </a:rPr>
            <a:t>Mixed-method evaluation</a:t>
          </a:r>
          <a:endParaRPr lang="en-US" b="1">
            <a:solidFill>
              <a:schemeClr val="tx1"/>
            </a:solidFill>
          </a:endParaRPr>
        </a:p>
      </dgm:t>
    </dgm:pt>
    <dgm:pt modelId="{352F2F5D-193A-4744-84C4-143146DA08FB}" type="parTrans" cxnId="{347211CE-A8F3-493E-B850-7CDBD7DEC6AD}">
      <dgm:prSet/>
      <dgm:spPr/>
      <dgm:t>
        <a:bodyPr/>
        <a:lstStyle/>
        <a:p>
          <a:endParaRPr lang="en-US"/>
        </a:p>
      </dgm:t>
    </dgm:pt>
    <dgm:pt modelId="{DDB7FE87-66B2-477E-81B5-E095CD9B42CF}" type="sibTrans" cxnId="{347211CE-A8F3-493E-B850-7CDBD7DEC6AD}">
      <dgm:prSet/>
      <dgm:spPr/>
      <dgm:t>
        <a:bodyPr/>
        <a:lstStyle/>
        <a:p>
          <a:endParaRPr lang="en-US"/>
        </a:p>
      </dgm:t>
    </dgm:pt>
    <dgm:pt modelId="{71763F7E-8D14-4B30-BD39-B544A38041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>
              <a:solidFill>
                <a:schemeClr val="tx1"/>
              </a:solidFill>
            </a:rPr>
            <a:t>Semi-structured interviews </a:t>
          </a:r>
          <a:endParaRPr lang="en-US" b="1">
            <a:solidFill>
              <a:schemeClr val="tx1"/>
            </a:solidFill>
          </a:endParaRPr>
        </a:p>
      </dgm:t>
    </dgm:pt>
    <dgm:pt modelId="{50BC0D06-96E2-485F-9087-7C7243D238B5}" type="parTrans" cxnId="{48156A71-ED4D-4A17-8BEC-937AC4827361}">
      <dgm:prSet/>
      <dgm:spPr/>
      <dgm:t>
        <a:bodyPr/>
        <a:lstStyle/>
        <a:p>
          <a:endParaRPr lang="en-US"/>
        </a:p>
      </dgm:t>
    </dgm:pt>
    <dgm:pt modelId="{4127EBD8-4934-414D-8224-92C8E7107690}" type="sibTrans" cxnId="{48156A71-ED4D-4A17-8BEC-937AC4827361}">
      <dgm:prSet/>
      <dgm:spPr/>
      <dgm:t>
        <a:bodyPr/>
        <a:lstStyle/>
        <a:p>
          <a:endParaRPr lang="en-US"/>
        </a:p>
      </dgm:t>
    </dgm:pt>
    <dgm:pt modelId="{49B49870-F4C5-4D83-B04F-7A33173226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>
              <a:solidFill>
                <a:schemeClr val="tx1"/>
              </a:solidFill>
            </a:rPr>
            <a:t>Affinity Diagramming </a:t>
          </a:r>
          <a:endParaRPr lang="en-US" b="1">
            <a:solidFill>
              <a:schemeClr val="tx1"/>
            </a:solidFill>
          </a:endParaRPr>
        </a:p>
      </dgm:t>
    </dgm:pt>
    <dgm:pt modelId="{7DDA73B7-27C4-40B1-94B0-9FCBBE09B347}" type="parTrans" cxnId="{5DA9B795-A88A-490E-BC97-81FF5033FEAB}">
      <dgm:prSet/>
      <dgm:spPr/>
      <dgm:t>
        <a:bodyPr/>
        <a:lstStyle/>
        <a:p>
          <a:endParaRPr lang="en-US"/>
        </a:p>
      </dgm:t>
    </dgm:pt>
    <dgm:pt modelId="{1F470030-8065-4ABC-B43B-AC9EAE50BB0F}" type="sibTrans" cxnId="{5DA9B795-A88A-490E-BC97-81FF5033FEAB}">
      <dgm:prSet/>
      <dgm:spPr/>
      <dgm:t>
        <a:bodyPr/>
        <a:lstStyle/>
        <a:p>
          <a:endParaRPr lang="en-US"/>
        </a:p>
      </dgm:t>
    </dgm:pt>
    <dgm:pt modelId="{AAB7F2C3-ED70-44A7-B2D1-0DB2E2AB0A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>
              <a:solidFill>
                <a:schemeClr val="tx1"/>
              </a:solidFill>
            </a:rPr>
            <a:t>Theme identification</a:t>
          </a:r>
          <a:endParaRPr lang="en-US" b="1">
            <a:solidFill>
              <a:schemeClr val="tx1"/>
            </a:solidFill>
          </a:endParaRPr>
        </a:p>
      </dgm:t>
    </dgm:pt>
    <dgm:pt modelId="{FFA1084D-EA10-49E2-BEF5-A734E83398AE}" type="parTrans" cxnId="{A31564F1-720B-4321-A877-830089EE93C6}">
      <dgm:prSet/>
      <dgm:spPr/>
      <dgm:t>
        <a:bodyPr/>
        <a:lstStyle/>
        <a:p>
          <a:endParaRPr lang="en-US"/>
        </a:p>
      </dgm:t>
    </dgm:pt>
    <dgm:pt modelId="{DB66ECB2-4B54-44A4-8CE1-18CE147D7B3A}" type="sibTrans" cxnId="{A31564F1-720B-4321-A877-830089EE93C6}">
      <dgm:prSet/>
      <dgm:spPr/>
      <dgm:t>
        <a:bodyPr/>
        <a:lstStyle/>
        <a:p>
          <a:endParaRPr lang="en-US"/>
        </a:p>
      </dgm:t>
    </dgm:pt>
    <dgm:pt modelId="{B3FFD3E1-7C29-401C-87D8-B3A46CA1A3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>
              <a:solidFill>
                <a:schemeClr val="tx1"/>
              </a:solidFill>
            </a:rPr>
            <a:t>UEQ-S | NASA-TLX | PSSUQ </a:t>
          </a:r>
          <a:endParaRPr lang="en-US" b="1">
            <a:solidFill>
              <a:schemeClr val="tx1"/>
            </a:solidFill>
          </a:endParaRPr>
        </a:p>
      </dgm:t>
    </dgm:pt>
    <dgm:pt modelId="{F9B9B877-BEE2-48A0-907A-10DCAB1B9D0C}" type="sibTrans" cxnId="{081F6149-E4FD-440A-988F-632488419BDF}">
      <dgm:prSet/>
      <dgm:spPr/>
      <dgm:t>
        <a:bodyPr/>
        <a:lstStyle/>
        <a:p>
          <a:endParaRPr lang="en-US"/>
        </a:p>
      </dgm:t>
    </dgm:pt>
    <dgm:pt modelId="{DD11CB44-0220-45D1-A312-F9FCE2518ABC}" type="parTrans" cxnId="{081F6149-E4FD-440A-988F-632488419BDF}">
      <dgm:prSet/>
      <dgm:spPr/>
      <dgm:t>
        <a:bodyPr/>
        <a:lstStyle/>
        <a:p>
          <a:endParaRPr lang="en-US"/>
        </a:p>
      </dgm:t>
    </dgm:pt>
    <dgm:pt modelId="{8C52C18D-341D-4E8C-9D46-F6599EB4F9A7}" type="pres">
      <dgm:prSet presAssocID="{7605306B-08C4-4BCA-A94B-B7CC1B1788F7}" presName="root" presStyleCnt="0">
        <dgm:presLayoutVars>
          <dgm:dir/>
          <dgm:resizeHandles val="exact"/>
        </dgm:presLayoutVars>
      </dgm:prSet>
      <dgm:spPr/>
    </dgm:pt>
    <dgm:pt modelId="{5C991437-DB64-48B4-87EA-EA2274C6AC58}" type="pres">
      <dgm:prSet presAssocID="{C62D27B5-3A9C-4418-92FC-689BEC87F90E}" presName="compNode" presStyleCnt="0"/>
      <dgm:spPr/>
    </dgm:pt>
    <dgm:pt modelId="{59FD97AD-F89F-4B0C-AB45-9EC92FD3E4D0}" type="pres">
      <dgm:prSet presAssocID="{C62D27B5-3A9C-4418-92FC-689BEC87F90E}" presName="iconBgRect" presStyleLbl="bgShp" presStyleIdx="0" presStyleCnt="5"/>
      <dgm:spPr>
        <a:solidFill>
          <a:srgbClr val="FF0000"/>
        </a:solidFill>
      </dgm:spPr>
    </dgm:pt>
    <dgm:pt modelId="{461F8F7C-88AB-48C7-BBE3-6DE2501CD2DC}" type="pres">
      <dgm:prSet presAssocID="{C62D27B5-3A9C-4418-92FC-689BEC87F90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479F7297-9BA2-441E-AB41-35FC5C3B1E42}" type="pres">
      <dgm:prSet presAssocID="{C62D27B5-3A9C-4418-92FC-689BEC87F90E}" presName="spaceRect" presStyleCnt="0"/>
      <dgm:spPr/>
    </dgm:pt>
    <dgm:pt modelId="{A13F2A46-9ACC-4A49-8DF5-1D835CEFCF58}" type="pres">
      <dgm:prSet presAssocID="{C62D27B5-3A9C-4418-92FC-689BEC87F90E}" presName="textRect" presStyleLbl="revTx" presStyleIdx="0" presStyleCnt="5">
        <dgm:presLayoutVars>
          <dgm:chMax val="1"/>
          <dgm:chPref val="1"/>
        </dgm:presLayoutVars>
      </dgm:prSet>
      <dgm:spPr/>
    </dgm:pt>
    <dgm:pt modelId="{09403520-FE13-45CD-985F-17B7FD5F1F63}" type="pres">
      <dgm:prSet presAssocID="{DDB7FE87-66B2-477E-81B5-E095CD9B42CF}" presName="sibTrans" presStyleCnt="0"/>
      <dgm:spPr/>
    </dgm:pt>
    <dgm:pt modelId="{E4554AA4-489C-40DD-9762-FEFCDE20ECAF}" type="pres">
      <dgm:prSet presAssocID="{B3FFD3E1-7C29-401C-87D8-B3A46CA1A357}" presName="compNode" presStyleCnt="0"/>
      <dgm:spPr/>
    </dgm:pt>
    <dgm:pt modelId="{7AE15188-A685-4F34-8D26-9687D8B29F01}" type="pres">
      <dgm:prSet presAssocID="{B3FFD3E1-7C29-401C-87D8-B3A46CA1A357}" presName="iconBgRect" presStyleLbl="bgShp" presStyleIdx="1" presStyleCnt="5"/>
      <dgm:spPr>
        <a:solidFill>
          <a:srgbClr val="FF0000"/>
        </a:solidFill>
      </dgm:spPr>
    </dgm:pt>
    <dgm:pt modelId="{09B9EC5D-67E6-4A63-94D2-0B0810B438A4}" type="pres">
      <dgm:prSet presAssocID="{B3FFD3E1-7C29-401C-87D8-B3A46CA1A35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90170136-C1F9-492B-BC24-CB3AE873A09D}" type="pres">
      <dgm:prSet presAssocID="{B3FFD3E1-7C29-401C-87D8-B3A46CA1A357}" presName="spaceRect" presStyleCnt="0"/>
      <dgm:spPr/>
    </dgm:pt>
    <dgm:pt modelId="{0C8AC748-CED3-4A77-AF48-59E657374545}" type="pres">
      <dgm:prSet presAssocID="{B3FFD3E1-7C29-401C-87D8-B3A46CA1A357}" presName="textRect" presStyleLbl="revTx" presStyleIdx="1" presStyleCnt="5">
        <dgm:presLayoutVars>
          <dgm:chMax val="1"/>
          <dgm:chPref val="1"/>
        </dgm:presLayoutVars>
      </dgm:prSet>
      <dgm:spPr/>
    </dgm:pt>
    <dgm:pt modelId="{BE83C9AD-E5B3-4B0E-AD28-CB0B1B1B1D98}" type="pres">
      <dgm:prSet presAssocID="{F9B9B877-BEE2-48A0-907A-10DCAB1B9D0C}" presName="sibTrans" presStyleCnt="0"/>
      <dgm:spPr/>
    </dgm:pt>
    <dgm:pt modelId="{C6A1811F-862B-4CE3-874B-9DEE722046AA}" type="pres">
      <dgm:prSet presAssocID="{71763F7E-8D14-4B30-BD39-B544A38041F5}" presName="compNode" presStyleCnt="0"/>
      <dgm:spPr/>
    </dgm:pt>
    <dgm:pt modelId="{E7B38A47-2F1A-4BDC-A9F7-D227A3174D25}" type="pres">
      <dgm:prSet presAssocID="{71763F7E-8D14-4B30-BD39-B544A38041F5}" presName="iconBgRect" presStyleLbl="bgShp" presStyleIdx="2" presStyleCnt="5"/>
      <dgm:spPr>
        <a:solidFill>
          <a:srgbClr val="FF0000"/>
        </a:solidFill>
      </dgm:spPr>
    </dgm:pt>
    <dgm:pt modelId="{FF68BC01-F267-4388-8B2E-DF04C80F37F8}" type="pres">
      <dgm:prSet presAssocID="{71763F7E-8D14-4B30-BD39-B544A38041F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AD408B8-F8D0-4C39-9B69-666B54197A23}" type="pres">
      <dgm:prSet presAssocID="{71763F7E-8D14-4B30-BD39-B544A38041F5}" presName="spaceRect" presStyleCnt="0"/>
      <dgm:spPr/>
    </dgm:pt>
    <dgm:pt modelId="{A4FCBA1B-323E-40C3-8663-4F85A2B38D14}" type="pres">
      <dgm:prSet presAssocID="{71763F7E-8D14-4B30-BD39-B544A38041F5}" presName="textRect" presStyleLbl="revTx" presStyleIdx="2" presStyleCnt="5">
        <dgm:presLayoutVars>
          <dgm:chMax val="1"/>
          <dgm:chPref val="1"/>
        </dgm:presLayoutVars>
      </dgm:prSet>
      <dgm:spPr/>
    </dgm:pt>
    <dgm:pt modelId="{87AA357F-5971-4E35-B2D8-6899D6CFEDA6}" type="pres">
      <dgm:prSet presAssocID="{4127EBD8-4934-414D-8224-92C8E7107690}" presName="sibTrans" presStyleCnt="0"/>
      <dgm:spPr/>
    </dgm:pt>
    <dgm:pt modelId="{EE530D48-B15C-4BAD-810B-5D5FAF7B747D}" type="pres">
      <dgm:prSet presAssocID="{49B49870-F4C5-4D83-B04F-7A33173226C8}" presName="compNode" presStyleCnt="0"/>
      <dgm:spPr/>
    </dgm:pt>
    <dgm:pt modelId="{E2117D9B-149E-4667-BB49-13D9F0B7FCED}" type="pres">
      <dgm:prSet presAssocID="{49B49870-F4C5-4D83-B04F-7A33173226C8}" presName="iconBgRect" presStyleLbl="bgShp" presStyleIdx="3" presStyleCnt="5"/>
      <dgm:spPr>
        <a:solidFill>
          <a:srgbClr val="FF0000"/>
        </a:solidFill>
      </dgm:spPr>
    </dgm:pt>
    <dgm:pt modelId="{B491162D-F9E0-4FDF-A70D-D41F098078DF}" type="pres">
      <dgm:prSet presAssocID="{49B49870-F4C5-4D83-B04F-7A33173226C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AC6AB4D-E9C9-4AB8-BACA-C64678468C67}" type="pres">
      <dgm:prSet presAssocID="{49B49870-F4C5-4D83-B04F-7A33173226C8}" presName="spaceRect" presStyleCnt="0"/>
      <dgm:spPr/>
    </dgm:pt>
    <dgm:pt modelId="{8EC27351-BE39-453F-A11A-2FC1826027EF}" type="pres">
      <dgm:prSet presAssocID="{49B49870-F4C5-4D83-B04F-7A33173226C8}" presName="textRect" presStyleLbl="revTx" presStyleIdx="3" presStyleCnt="5">
        <dgm:presLayoutVars>
          <dgm:chMax val="1"/>
          <dgm:chPref val="1"/>
        </dgm:presLayoutVars>
      </dgm:prSet>
      <dgm:spPr/>
    </dgm:pt>
    <dgm:pt modelId="{73D158DB-33F0-4D0C-A042-E3BD16C41DB2}" type="pres">
      <dgm:prSet presAssocID="{1F470030-8065-4ABC-B43B-AC9EAE50BB0F}" presName="sibTrans" presStyleCnt="0"/>
      <dgm:spPr/>
    </dgm:pt>
    <dgm:pt modelId="{317F0E61-3CAD-4C1D-A505-A86460ED742B}" type="pres">
      <dgm:prSet presAssocID="{AAB7F2C3-ED70-44A7-B2D1-0DB2E2AB0A8E}" presName="compNode" presStyleCnt="0"/>
      <dgm:spPr/>
    </dgm:pt>
    <dgm:pt modelId="{C424D7A7-F43F-4F2E-8CAA-27204D3BD05D}" type="pres">
      <dgm:prSet presAssocID="{AAB7F2C3-ED70-44A7-B2D1-0DB2E2AB0A8E}" presName="iconBgRect" presStyleLbl="bgShp" presStyleIdx="4" presStyleCnt="5"/>
      <dgm:spPr>
        <a:solidFill>
          <a:srgbClr val="FF0000"/>
        </a:solidFill>
      </dgm:spPr>
    </dgm:pt>
    <dgm:pt modelId="{FF06FA4D-1730-489C-9E74-2FEDEA97EE34}" type="pres">
      <dgm:prSet presAssocID="{AAB7F2C3-ED70-44A7-B2D1-0DB2E2AB0A8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2123A5E-762A-4A5D-8F8A-1726E6B34942}" type="pres">
      <dgm:prSet presAssocID="{AAB7F2C3-ED70-44A7-B2D1-0DB2E2AB0A8E}" presName="spaceRect" presStyleCnt="0"/>
      <dgm:spPr/>
    </dgm:pt>
    <dgm:pt modelId="{7C6B797D-D98C-4028-BD6F-0EAF277ED939}" type="pres">
      <dgm:prSet presAssocID="{AAB7F2C3-ED70-44A7-B2D1-0DB2E2AB0A8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FC21202-72F3-B04D-8F03-7AF20809AD3D}" type="presOf" srcId="{71763F7E-8D14-4B30-BD39-B544A38041F5}" destId="{A4FCBA1B-323E-40C3-8663-4F85A2B38D14}" srcOrd="0" destOrd="0" presId="urn:microsoft.com/office/officeart/2018/5/layout/IconCircleLabelList"/>
    <dgm:cxn modelId="{AAEC251D-2F59-7E4C-BB46-72E0A7525871}" type="presOf" srcId="{49B49870-F4C5-4D83-B04F-7A33173226C8}" destId="{8EC27351-BE39-453F-A11A-2FC1826027EF}" srcOrd="0" destOrd="0" presId="urn:microsoft.com/office/officeart/2018/5/layout/IconCircleLabelList"/>
    <dgm:cxn modelId="{DF537862-4734-A84B-92B1-3705F2B6DA51}" type="presOf" srcId="{C62D27B5-3A9C-4418-92FC-689BEC87F90E}" destId="{A13F2A46-9ACC-4A49-8DF5-1D835CEFCF58}" srcOrd="0" destOrd="0" presId="urn:microsoft.com/office/officeart/2018/5/layout/IconCircleLabelList"/>
    <dgm:cxn modelId="{081F6149-E4FD-440A-988F-632488419BDF}" srcId="{7605306B-08C4-4BCA-A94B-B7CC1B1788F7}" destId="{B3FFD3E1-7C29-401C-87D8-B3A46CA1A357}" srcOrd="1" destOrd="0" parTransId="{DD11CB44-0220-45D1-A312-F9FCE2518ABC}" sibTransId="{F9B9B877-BEE2-48A0-907A-10DCAB1B9D0C}"/>
    <dgm:cxn modelId="{48156A71-ED4D-4A17-8BEC-937AC4827361}" srcId="{7605306B-08C4-4BCA-A94B-B7CC1B1788F7}" destId="{71763F7E-8D14-4B30-BD39-B544A38041F5}" srcOrd="2" destOrd="0" parTransId="{50BC0D06-96E2-485F-9087-7C7243D238B5}" sibTransId="{4127EBD8-4934-414D-8224-92C8E7107690}"/>
    <dgm:cxn modelId="{D14D2681-5C60-E742-BCDB-9ED1513ACBFD}" type="presOf" srcId="{B3FFD3E1-7C29-401C-87D8-B3A46CA1A357}" destId="{0C8AC748-CED3-4A77-AF48-59E657374545}" srcOrd="0" destOrd="0" presId="urn:microsoft.com/office/officeart/2018/5/layout/IconCircleLabelList"/>
    <dgm:cxn modelId="{5DA9B795-A88A-490E-BC97-81FF5033FEAB}" srcId="{7605306B-08C4-4BCA-A94B-B7CC1B1788F7}" destId="{49B49870-F4C5-4D83-B04F-7A33173226C8}" srcOrd="3" destOrd="0" parTransId="{7DDA73B7-27C4-40B1-94B0-9FCBBE09B347}" sibTransId="{1F470030-8065-4ABC-B43B-AC9EAE50BB0F}"/>
    <dgm:cxn modelId="{347211CE-A8F3-493E-B850-7CDBD7DEC6AD}" srcId="{7605306B-08C4-4BCA-A94B-B7CC1B1788F7}" destId="{C62D27B5-3A9C-4418-92FC-689BEC87F90E}" srcOrd="0" destOrd="0" parTransId="{352F2F5D-193A-4744-84C4-143146DA08FB}" sibTransId="{DDB7FE87-66B2-477E-81B5-E095CD9B42CF}"/>
    <dgm:cxn modelId="{D48EB2D5-F21A-064F-A9C9-512A67908EB7}" type="presOf" srcId="{AAB7F2C3-ED70-44A7-B2D1-0DB2E2AB0A8E}" destId="{7C6B797D-D98C-4028-BD6F-0EAF277ED939}" srcOrd="0" destOrd="0" presId="urn:microsoft.com/office/officeart/2018/5/layout/IconCircleLabelList"/>
    <dgm:cxn modelId="{A0A68FF0-740C-084D-B224-47D383432ECC}" type="presOf" srcId="{7605306B-08C4-4BCA-A94B-B7CC1B1788F7}" destId="{8C52C18D-341D-4E8C-9D46-F6599EB4F9A7}" srcOrd="0" destOrd="0" presId="urn:microsoft.com/office/officeart/2018/5/layout/IconCircleLabelList"/>
    <dgm:cxn modelId="{A31564F1-720B-4321-A877-830089EE93C6}" srcId="{7605306B-08C4-4BCA-A94B-B7CC1B1788F7}" destId="{AAB7F2C3-ED70-44A7-B2D1-0DB2E2AB0A8E}" srcOrd="4" destOrd="0" parTransId="{FFA1084D-EA10-49E2-BEF5-A734E83398AE}" sibTransId="{DB66ECB2-4B54-44A4-8CE1-18CE147D7B3A}"/>
    <dgm:cxn modelId="{894C6348-8218-7842-897F-0F259A7788EF}" type="presParOf" srcId="{8C52C18D-341D-4E8C-9D46-F6599EB4F9A7}" destId="{5C991437-DB64-48B4-87EA-EA2274C6AC58}" srcOrd="0" destOrd="0" presId="urn:microsoft.com/office/officeart/2018/5/layout/IconCircleLabelList"/>
    <dgm:cxn modelId="{EE058F7A-3FDA-AA44-81AF-9E9377110CAB}" type="presParOf" srcId="{5C991437-DB64-48B4-87EA-EA2274C6AC58}" destId="{59FD97AD-F89F-4B0C-AB45-9EC92FD3E4D0}" srcOrd="0" destOrd="0" presId="urn:microsoft.com/office/officeart/2018/5/layout/IconCircleLabelList"/>
    <dgm:cxn modelId="{249C2592-9C1C-F24B-AB21-94A235341B4A}" type="presParOf" srcId="{5C991437-DB64-48B4-87EA-EA2274C6AC58}" destId="{461F8F7C-88AB-48C7-BBE3-6DE2501CD2DC}" srcOrd="1" destOrd="0" presId="urn:microsoft.com/office/officeart/2018/5/layout/IconCircleLabelList"/>
    <dgm:cxn modelId="{F8CAFE87-1512-8B4B-987D-D592D4BDA86A}" type="presParOf" srcId="{5C991437-DB64-48B4-87EA-EA2274C6AC58}" destId="{479F7297-9BA2-441E-AB41-35FC5C3B1E42}" srcOrd="2" destOrd="0" presId="urn:microsoft.com/office/officeart/2018/5/layout/IconCircleLabelList"/>
    <dgm:cxn modelId="{D565F6A3-D924-B243-8042-C332F6263BC0}" type="presParOf" srcId="{5C991437-DB64-48B4-87EA-EA2274C6AC58}" destId="{A13F2A46-9ACC-4A49-8DF5-1D835CEFCF58}" srcOrd="3" destOrd="0" presId="urn:microsoft.com/office/officeart/2018/5/layout/IconCircleLabelList"/>
    <dgm:cxn modelId="{8B8A4A61-D022-6644-ABCC-B4B194DB58E5}" type="presParOf" srcId="{8C52C18D-341D-4E8C-9D46-F6599EB4F9A7}" destId="{09403520-FE13-45CD-985F-17B7FD5F1F63}" srcOrd="1" destOrd="0" presId="urn:microsoft.com/office/officeart/2018/5/layout/IconCircleLabelList"/>
    <dgm:cxn modelId="{8D173808-942A-3946-BC39-A8BFAA1DFC61}" type="presParOf" srcId="{8C52C18D-341D-4E8C-9D46-F6599EB4F9A7}" destId="{E4554AA4-489C-40DD-9762-FEFCDE20ECAF}" srcOrd="2" destOrd="0" presId="urn:microsoft.com/office/officeart/2018/5/layout/IconCircleLabelList"/>
    <dgm:cxn modelId="{C258852F-7D41-0046-B1E2-387098E12E4B}" type="presParOf" srcId="{E4554AA4-489C-40DD-9762-FEFCDE20ECAF}" destId="{7AE15188-A685-4F34-8D26-9687D8B29F01}" srcOrd="0" destOrd="0" presId="urn:microsoft.com/office/officeart/2018/5/layout/IconCircleLabelList"/>
    <dgm:cxn modelId="{D590F6DD-6F4F-2343-8B11-E67F3233B0DE}" type="presParOf" srcId="{E4554AA4-489C-40DD-9762-FEFCDE20ECAF}" destId="{09B9EC5D-67E6-4A63-94D2-0B0810B438A4}" srcOrd="1" destOrd="0" presId="urn:microsoft.com/office/officeart/2018/5/layout/IconCircleLabelList"/>
    <dgm:cxn modelId="{FAA125DE-BFA6-D94A-9C0F-AE03D44774A3}" type="presParOf" srcId="{E4554AA4-489C-40DD-9762-FEFCDE20ECAF}" destId="{90170136-C1F9-492B-BC24-CB3AE873A09D}" srcOrd="2" destOrd="0" presId="urn:microsoft.com/office/officeart/2018/5/layout/IconCircleLabelList"/>
    <dgm:cxn modelId="{FE2F5176-6423-ED4D-B991-F1020DF07899}" type="presParOf" srcId="{E4554AA4-489C-40DD-9762-FEFCDE20ECAF}" destId="{0C8AC748-CED3-4A77-AF48-59E657374545}" srcOrd="3" destOrd="0" presId="urn:microsoft.com/office/officeart/2018/5/layout/IconCircleLabelList"/>
    <dgm:cxn modelId="{95378B93-C1F5-9C43-A1A2-3A30F2311C44}" type="presParOf" srcId="{8C52C18D-341D-4E8C-9D46-F6599EB4F9A7}" destId="{BE83C9AD-E5B3-4B0E-AD28-CB0B1B1B1D98}" srcOrd="3" destOrd="0" presId="urn:microsoft.com/office/officeart/2018/5/layout/IconCircleLabelList"/>
    <dgm:cxn modelId="{8600FC2E-F893-7741-8C08-BC795EAD9A6E}" type="presParOf" srcId="{8C52C18D-341D-4E8C-9D46-F6599EB4F9A7}" destId="{C6A1811F-862B-4CE3-874B-9DEE722046AA}" srcOrd="4" destOrd="0" presId="urn:microsoft.com/office/officeart/2018/5/layout/IconCircleLabelList"/>
    <dgm:cxn modelId="{690C0853-DBF0-2642-9C9A-E49057F4B1D1}" type="presParOf" srcId="{C6A1811F-862B-4CE3-874B-9DEE722046AA}" destId="{E7B38A47-2F1A-4BDC-A9F7-D227A3174D25}" srcOrd="0" destOrd="0" presId="urn:microsoft.com/office/officeart/2018/5/layout/IconCircleLabelList"/>
    <dgm:cxn modelId="{80EC4C9C-FAB5-234D-BC08-940F396CD8AF}" type="presParOf" srcId="{C6A1811F-862B-4CE3-874B-9DEE722046AA}" destId="{FF68BC01-F267-4388-8B2E-DF04C80F37F8}" srcOrd="1" destOrd="0" presId="urn:microsoft.com/office/officeart/2018/5/layout/IconCircleLabelList"/>
    <dgm:cxn modelId="{51B39CDA-C448-C04C-AC15-EE7522999A57}" type="presParOf" srcId="{C6A1811F-862B-4CE3-874B-9DEE722046AA}" destId="{1AD408B8-F8D0-4C39-9B69-666B54197A23}" srcOrd="2" destOrd="0" presId="urn:microsoft.com/office/officeart/2018/5/layout/IconCircleLabelList"/>
    <dgm:cxn modelId="{432A582B-50F2-8242-B527-020E4FB1C837}" type="presParOf" srcId="{C6A1811F-862B-4CE3-874B-9DEE722046AA}" destId="{A4FCBA1B-323E-40C3-8663-4F85A2B38D14}" srcOrd="3" destOrd="0" presId="urn:microsoft.com/office/officeart/2018/5/layout/IconCircleLabelList"/>
    <dgm:cxn modelId="{9EAE4565-A157-684B-B62C-CC2B4F15F1A1}" type="presParOf" srcId="{8C52C18D-341D-4E8C-9D46-F6599EB4F9A7}" destId="{87AA357F-5971-4E35-B2D8-6899D6CFEDA6}" srcOrd="5" destOrd="0" presId="urn:microsoft.com/office/officeart/2018/5/layout/IconCircleLabelList"/>
    <dgm:cxn modelId="{1F0869B4-3EE1-3640-8F82-587844C7AB81}" type="presParOf" srcId="{8C52C18D-341D-4E8C-9D46-F6599EB4F9A7}" destId="{EE530D48-B15C-4BAD-810B-5D5FAF7B747D}" srcOrd="6" destOrd="0" presId="urn:microsoft.com/office/officeart/2018/5/layout/IconCircleLabelList"/>
    <dgm:cxn modelId="{F01EFEA5-AF00-B148-8BA4-007A8A6AA983}" type="presParOf" srcId="{EE530D48-B15C-4BAD-810B-5D5FAF7B747D}" destId="{E2117D9B-149E-4667-BB49-13D9F0B7FCED}" srcOrd="0" destOrd="0" presId="urn:microsoft.com/office/officeart/2018/5/layout/IconCircleLabelList"/>
    <dgm:cxn modelId="{C721E680-D010-BC48-AA97-F19AA7BF9CF4}" type="presParOf" srcId="{EE530D48-B15C-4BAD-810B-5D5FAF7B747D}" destId="{B491162D-F9E0-4FDF-A70D-D41F098078DF}" srcOrd="1" destOrd="0" presId="urn:microsoft.com/office/officeart/2018/5/layout/IconCircleLabelList"/>
    <dgm:cxn modelId="{1C14C77C-CBD9-3E42-8231-568FFE693A42}" type="presParOf" srcId="{EE530D48-B15C-4BAD-810B-5D5FAF7B747D}" destId="{9AC6AB4D-E9C9-4AB8-BACA-C64678468C67}" srcOrd="2" destOrd="0" presId="urn:microsoft.com/office/officeart/2018/5/layout/IconCircleLabelList"/>
    <dgm:cxn modelId="{280976A3-1A47-8A41-90B8-1DB0A549A5B2}" type="presParOf" srcId="{EE530D48-B15C-4BAD-810B-5D5FAF7B747D}" destId="{8EC27351-BE39-453F-A11A-2FC1826027EF}" srcOrd="3" destOrd="0" presId="urn:microsoft.com/office/officeart/2018/5/layout/IconCircleLabelList"/>
    <dgm:cxn modelId="{371A18C0-B99D-254A-AA92-6BFC7ADF59A7}" type="presParOf" srcId="{8C52C18D-341D-4E8C-9D46-F6599EB4F9A7}" destId="{73D158DB-33F0-4D0C-A042-E3BD16C41DB2}" srcOrd="7" destOrd="0" presId="urn:microsoft.com/office/officeart/2018/5/layout/IconCircleLabelList"/>
    <dgm:cxn modelId="{BB63B440-ED16-F740-BB54-EC60955CC06F}" type="presParOf" srcId="{8C52C18D-341D-4E8C-9D46-F6599EB4F9A7}" destId="{317F0E61-3CAD-4C1D-A505-A86460ED742B}" srcOrd="8" destOrd="0" presId="urn:microsoft.com/office/officeart/2018/5/layout/IconCircleLabelList"/>
    <dgm:cxn modelId="{FA1989D2-BCB0-1A4C-86A4-36E7DB7EFD32}" type="presParOf" srcId="{317F0E61-3CAD-4C1D-A505-A86460ED742B}" destId="{C424D7A7-F43F-4F2E-8CAA-27204D3BD05D}" srcOrd="0" destOrd="0" presId="urn:microsoft.com/office/officeart/2018/5/layout/IconCircleLabelList"/>
    <dgm:cxn modelId="{B2188A51-C0C0-B24C-B6CD-3C0247C4B5A4}" type="presParOf" srcId="{317F0E61-3CAD-4C1D-A505-A86460ED742B}" destId="{FF06FA4D-1730-489C-9E74-2FEDEA97EE34}" srcOrd="1" destOrd="0" presId="urn:microsoft.com/office/officeart/2018/5/layout/IconCircleLabelList"/>
    <dgm:cxn modelId="{FFB4FB1C-B8DA-A248-A57F-798C8867130A}" type="presParOf" srcId="{317F0E61-3CAD-4C1D-A505-A86460ED742B}" destId="{22123A5E-762A-4A5D-8F8A-1726E6B34942}" srcOrd="2" destOrd="0" presId="urn:microsoft.com/office/officeart/2018/5/layout/IconCircleLabelList"/>
    <dgm:cxn modelId="{3A749FE7-0924-E24D-9F53-FBB27EB412F1}" type="presParOf" srcId="{317F0E61-3CAD-4C1D-A505-A86460ED742B}" destId="{7C6B797D-D98C-4028-BD6F-0EAF277ED9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5288E-6DB4-FE4F-9B8E-A6820BFBE899}">
      <dsp:nvSpPr>
        <dsp:cNvPr id="0" name=""/>
        <dsp:cNvSpPr/>
      </dsp:nvSpPr>
      <dsp:spPr>
        <a:xfrm>
          <a:off x="5102" y="6318"/>
          <a:ext cx="2231072" cy="1338643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Why did we choose the Canvas app?</a:t>
          </a:r>
        </a:p>
      </dsp:txBody>
      <dsp:txXfrm>
        <a:off x="44310" y="45526"/>
        <a:ext cx="2152656" cy="1260227"/>
      </dsp:txXfrm>
    </dsp:sp>
    <dsp:sp modelId="{29B95773-42B0-9541-9042-C6974481A6D6}">
      <dsp:nvSpPr>
        <dsp:cNvPr id="0" name=""/>
        <dsp:cNvSpPr/>
      </dsp:nvSpPr>
      <dsp:spPr>
        <a:xfrm>
          <a:off x="2432510" y="398987"/>
          <a:ext cx="472987" cy="553306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432510" y="509648"/>
        <a:ext cx="331091" cy="331984"/>
      </dsp:txXfrm>
    </dsp:sp>
    <dsp:sp modelId="{B0FD98D0-61B2-3640-8815-F9F375638CC3}">
      <dsp:nvSpPr>
        <dsp:cNvPr id="0" name=""/>
        <dsp:cNvSpPr/>
      </dsp:nvSpPr>
      <dsp:spPr>
        <a:xfrm>
          <a:off x="3128604" y="6318"/>
          <a:ext cx="2231072" cy="1338643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Canvas is widely used by students, which makes gathering meaningful data easy.</a:t>
          </a:r>
        </a:p>
      </dsp:txBody>
      <dsp:txXfrm>
        <a:off x="3167812" y="45526"/>
        <a:ext cx="2152656" cy="1260227"/>
      </dsp:txXfrm>
    </dsp:sp>
    <dsp:sp modelId="{6BB2B02C-0AEC-984B-ADE2-1CF0681F39D0}">
      <dsp:nvSpPr>
        <dsp:cNvPr id="0" name=""/>
        <dsp:cNvSpPr/>
      </dsp:nvSpPr>
      <dsp:spPr>
        <a:xfrm>
          <a:off x="5556012" y="398987"/>
          <a:ext cx="472987" cy="553306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56012" y="509648"/>
        <a:ext cx="331091" cy="331984"/>
      </dsp:txXfrm>
    </dsp:sp>
    <dsp:sp modelId="{7A890C85-420B-A644-9AB0-44D6CBFD7CF9}">
      <dsp:nvSpPr>
        <dsp:cNvPr id="0" name=""/>
        <dsp:cNvSpPr/>
      </dsp:nvSpPr>
      <dsp:spPr>
        <a:xfrm>
          <a:off x="6252107" y="6318"/>
          <a:ext cx="2231072" cy="1338643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We personally experienced issues while using Canvas that we wanted to address.</a:t>
          </a:r>
        </a:p>
      </dsp:txBody>
      <dsp:txXfrm>
        <a:off x="6291315" y="45526"/>
        <a:ext cx="2152656" cy="1260227"/>
      </dsp:txXfrm>
    </dsp:sp>
    <dsp:sp modelId="{CA3F0B93-DDC1-D948-8B33-B52F05DA9A77}">
      <dsp:nvSpPr>
        <dsp:cNvPr id="0" name=""/>
        <dsp:cNvSpPr/>
      </dsp:nvSpPr>
      <dsp:spPr>
        <a:xfrm rot="21593057">
          <a:off x="8680636" y="395855"/>
          <a:ext cx="475692" cy="553306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680636" y="506660"/>
        <a:ext cx="332984" cy="331984"/>
      </dsp:txXfrm>
    </dsp:sp>
    <dsp:sp modelId="{342A352E-EB4B-ED4E-9C42-2B889B129AED}">
      <dsp:nvSpPr>
        <dsp:cNvPr id="0" name=""/>
        <dsp:cNvSpPr/>
      </dsp:nvSpPr>
      <dsp:spPr>
        <a:xfrm>
          <a:off x="9380712" y="0"/>
          <a:ext cx="2231072" cy="1338643"/>
        </a:xfrm>
        <a:prstGeom prst="roundRect">
          <a:avLst>
            <a:gd name="adj" fmla="val 10000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The Canvas app is relevant to our daily academic tasks. </a:t>
          </a:r>
        </a:p>
      </dsp:txBody>
      <dsp:txXfrm>
        <a:off x="9419920" y="39208"/>
        <a:ext cx="2152656" cy="1260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D97AD-F89F-4B0C-AB45-9EC92FD3E4D0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61F8F7C-88AB-48C7-BBE3-6DE2501CD2DC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13F2A46-9ACC-4A49-8DF5-1D835CEFCF58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>
              <a:solidFill>
                <a:schemeClr val="tx1"/>
              </a:solidFill>
            </a:rPr>
            <a:t>Mixed-method evaluation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333914" y="2456402"/>
        <a:ext cx="1800000" cy="720000"/>
      </dsp:txXfrm>
    </dsp:sp>
    <dsp:sp modelId="{7AE15188-A685-4F34-8D26-9687D8B29F01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9B9EC5D-67E6-4A63-94D2-0B0810B438A4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C8AC748-CED3-4A77-AF48-59E657374545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>
              <a:solidFill>
                <a:schemeClr val="tx1"/>
              </a:solidFill>
            </a:rPr>
            <a:t>UEQ-S | NASA-TLX | PSSUQ 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2448914" y="2456402"/>
        <a:ext cx="1800000" cy="720000"/>
      </dsp:txXfrm>
    </dsp:sp>
    <dsp:sp modelId="{E7B38A47-2F1A-4BDC-A9F7-D227A3174D25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68BC01-F267-4388-8B2E-DF04C80F37F8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FCBA1B-323E-40C3-8663-4F85A2B38D14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>
              <a:solidFill>
                <a:schemeClr val="tx1"/>
              </a:solidFill>
            </a:rPr>
            <a:t>Semi-structured interviews 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4563914" y="2456402"/>
        <a:ext cx="1800000" cy="720000"/>
      </dsp:txXfrm>
    </dsp:sp>
    <dsp:sp modelId="{E2117D9B-149E-4667-BB49-13D9F0B7FCED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491162D-F9E0-4FDF-A70D-D41F098078DF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C27351-BE39-453F-A11A-2FC1826027E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>
              <a:solidFill>
                <a:schemeClr val="tx1"/>
              </a:solidFill>
            </a:rPr>
            <a:t>Affinity Diagramming 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6678914" y="2456402"/>
        <a:ext cx="1800000" cy="720000"/>
      </dsp:txXfrm>
    </dsp:sp>
    <dsp:sp modelId="{C424D7A7-F43F-4F2E-8CAA-27204D3BD05D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06FA4D-1730-489C-9E74-2FEDEA97EE34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C6B797D-D98C-4028-BD6F-0EAF277ED939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>
              <a:solidFill>
                <a:schemeClr val="tx1"/>
              </a:solidFill>
            </a:rPr>
            <a:t>Theme identification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8793914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A13AE-B0B7-4AD8-950D-A9F76CFE7021}" type="datetimeFigureOut"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E0112-CE1D-4194-BBB5-4E46904A09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2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E0112-CE1D-4194-BBB5-4E46904A096A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893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E0112-CE1D-4194-BBB5-4E46904A096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55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8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0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0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8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3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8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9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9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9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.jpeg"/><Relationship Id="rId7" Type="http://schemas.openxmlformats.org/officeDocument/2006/relationships/diagramLayout" Target="../diagrams/layout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7.png"/><Relationship Id="rId5" Type="http://schemas.openxmlformats.org/officeDocument/2006/relationships/image" Target="../media/image6.jpeg"/><Relationship Id="rId10" Type="http://schemas.microsoft.com/office/2007/relationships/diagramDrawing" Target="../diagrams/drawing1.xml"/><Relationship Id="rId4" Type="http://schemas.openxmlformats.org/officeDocument/2006/relationships/image" Target="../media/image5.jpe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nvas board Vectors - Download Free High-Quality Vectors from Freepik |  Freepik">
            <a:extLst>
              <a:ext uri="{FF2B5EF4-FFF2-40B4-BE49-F238E27FC236}">
                <a16:creationId xmlns:a16="http://schemas.microsoft.com/office/drawing/2014/main" id="{6769A3C1-AC93-0141-19B1-4EB1C269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05" t="3093" r="6227" b="-344"/>
          <a:stretch>
            <a:fillRect/>
          </a:stretch>
        </p:blipFill>
        <p:spPr>
          <a:xfrm>
            <a:off x="50216" y="208697"/>
            <a:ext cx="12091568" cy="66548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2217" y="1551229"/>
            <a:ext cx="6043756" cy="1904903"/>
          </a:xfrm>
        </p:spPr>
        <p:txBody>
          <a:bodyPr anchor="b">
            <a:normAutofit/>
          </a:bodyPr>
          <a:lstStyle/>
          <a:p>
            <a:r>
              <a:rPr lang="en-US" b="1" i="1">
                <a:solidFill>
                  <a:srgbClr val="E24733"/>
                </a:solidFill>
                <a:latin typeface="Aptos Display"/>
              </a:rPr>
              <a:t>BSCCS-GROUP_01</a:t>
            </a:r>
          </a:p>
        </p:txBody>
      </p:sp>
      <p:pic>
        <p:nvPicPr>
          <p:cNvPr id="7" name="Picture 6" descr="A red circle with black background&#10;&#10;AI-generated content may be incorrect.">
            <a:extLst>
              <a:ext uri="{FF2B5EF4-FFF2-40B4-BE49-F238E27FC236}">
                <a16:creationId xmlns:a16="http://schemas.microsoft.com/office/drawing/2014/main" id="{300A5C40-9A76-F264-B8B6-AE837C848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18" y="1723852"/>
            <a:ext cx="1812257" cy="1812257"/>
          </a:xfrm>
          <a:prstGeom prst="rect">
            <a:avLst/>
          </a:prstGeom>
        </p:spPr>
      </p:pic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4C86A3C-95F9-6DC4-103F-0877C0052A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938" t="-4077" r="-446" b="-1364"/>
          <a:stretch>
            <a:fillRect/>
          </a:stretch>
        </p:blipFill>
        <p:spPr>
          <a:xfrm>
            <a:off x="8955973" y="1434778"/>
            <a:ext cx="3120534" cy="257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5643-B631-75D2-C3F9-FB62E5483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B27A0042-16C0-2C37-A156-5C3876771DEC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2A5B70-EEC9-BDEC-0B2B-5CC07312CBB3}"/>
              </a:ext>
            </a:extLst>
          </p:cNvPr>
          <p:cNvSpPr txBox="1"/>
          <p:nvPr/>
        </p:nvSpPr>
        <p:spPr>
          <a:xfrm>
            <a:off x="391424" y="678666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The Team &amp; App Choice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4D1247-2BEB-5161-5BA4-C1F9EFCD1F35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9" name="Picture 128" descr="A person in a tuxedo smiling&#10;&#10;AI-generated content may be incorrect.">
            <a:extLst>
              <a:ext uri="{FF2B5EF4-FFF2-40B4-BE49-F238E27FC236}">
                <a16:creationId xmlns:a16="http://schemas.microsoft.com/office/drawing/2014/main" id="{60AAB663-2E45-A6F8-8AB5-A78CBCA4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8" r="10359" b="496"/>
          <a:stretch>
            <a:fillRect/>
          </a:stretch>
        </p:blipFill>
        <p:spPr>
          <a:xfrm>
            <a:off x="320040" y="1271904"/>
            <a:ext cx="2740309" cy="3039553"/>
          </a:xfrm>
          <a:prstGeom prst="rect">
            <a:avLst/>
          </a:prstGeom>
        </p:spPr>
      </p:pic>
      <p:pic>
        <p:nvPicPr>
          <p:cNvPr id="131" name="Picture 130" descr="Profile image">
            <a:extLst>
              <a:ext uri="{FF2B5EF4-FFF2-40B4-BE49-F238E27FC236}">
                <a16:creationId xmlns:a16="http://schemas.microsoft.com/office/drawing/2014/main" id="{BC3B55E5-6BB8-D6E3-8BB2-B584D940E4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69" r="9514" b="-5"/>
          <a:stretch>
            <a:fillRect/>
          </a:stretch>
        </p:blipFill>
        <p:spPr>
          <a:xfrm>
            <a:off x="6192488" y="1269999"/>
            <a:ext cx="2733478" cy="3038602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DA44DF58-55B8-C3E8-3D64-A854C38E6F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36" t="17765" r="-79" b="29367"/>
          <a:stretch>
            <a:fillRect/>
          </a:stretch>
        </p:blipFill>
        <p:spPr>
          <a:xfrm>
            <a:off x="3235989" y="1271905"/>
            <a:ext cx="2737736" cy="303660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70888B4-86B0-EA9C-6B4D-BF6720DFDFF0}"/>
              </a:ext>
            </a:extLst>
          </p:cNvPr>
          <p:cNvGrpSpPr/>
          <p:nvPr/>
        </p:nvGrpSpPr>
        <p:grpSpPr>
          <a:xfrm>
            <a:off x="314203" y="4312225"/>
            <a:ext cx="2744353" cy="815439"/>
            <a:chOff x="314203" y="4774868"/>
            <a:chExt cx="2744353" cy="815439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075E0AB-C073-22F9-459C-C483EA074671}"/>
                </a:ext>
              </a:extLst>
            </p:cNvPr>
            <p:cNvSpPr/>
            <p:nvPr/>
          </p:nvSpPr>
          <p:spPr>
            <a:xfrm>
              <a:off x="314203" y="4774868"/>
              <a:ext cx="154442" cy="81543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54EFE6-F398-1F5B-4767-9FAFB1311005}"/>
                </a:ext>
              </a:extLst>
            </p:cNvPr>
            <p:cNvSpPr/>
            <p:nvPr/>
          </p:nvSpPr>
          <p:spPr>
            <a:xfrm>
              <a:off x="464633" y="4774868"/>
              <a:ext cx="2593923" cy="8154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Text 8">
              <a:extLst>
                <a:ext uri="{FF2B5EF4-FFF2-40B4-BE49-F238E27FC236}">
                  <a16:creationId xmlns:a16="http://schemas.microsoft.com/office/drawing/2014/main" id="{C11E2DAF-726F-6D08-AFF3-2B51818958D2}"/>
                </a:ext>
              </a:extLst>
            </p:cNvPr>
            <p:cNvSpPr/>
            <p:nvPr/>
          </p:nvSpPr>
          <p:spPr>
            <a:xfrm>
              <a:off x="567929" y="4961073"/>
              <a:ext cx="2332713" cy="2192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rPr>
                <a:t>Jake Sparks</a:t>
              </a:r>
              <a:endParaRPr lang="en-US"/>
            </a:p>
          </p:txBody>
        </p:sp>
        <p:sp>
          <p:nvSpPr>
            <p:cNvPr id="88" name="Text 9">
              <a:extLst>
                <a:ext uri="{FF2B5EF4-FFF2-40B4-BE49-F238E27FC236}">
                  <a16:creationId xmlns:a16="http://schemas.microsoft.com/office/drawing/2014/main" id="{A0C3BEA4-9729-3922-582B-AB68167564CF}"/>
                </a:ext>
              </a:extLst>
            </p:cNvPr>
            <p:cNvSpPr/>
            <p:nvPr/>
          </p:nvSpPr>
          <p:spPr>
            <a:xfrm>
              <a:off x="570996" y="5175765"/>
              <a:ext cx="2332714" cy="28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0" i="1">
                  <a:solidFill>
                    <a:srgbClr val="1E293B"/>
                  </a:solidFill>
                  <a:latin typeface="Aptos Display"/>
                  <a:ea typeface="Calibri"/>
                  <a:cs typeface="Calibri"/>
                </a:rPr>
                <a:t>Data Analyst</a:t>
              </a:r>
              <a:endParaRPr lang="en-US" i="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F5443E-70C2-FC9A-706A-E118D740F2F7}"/>
              </a:ext>
            </a:extLst>
          </p:cNvPr>
          <p:cNvGrpSpPr/>
          <p:nvPr/>
        </p:nvGrpSpPr>
        <p:grpSpPr>
          <a:xfrm>
            <a:off x="9204202" y="4312224"/>
            <a:ext cx="2744353" cy="815439"/>
            <a:chOff x="314203" y="4774868"/>
            <a:chExt cx="2744353" cy="81543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0872F6-2087-03D5-7742-C3A42AE81558}"/>
                </a:ext>
              </a:extLst>
            </p:cNvPr>
            <p:cNvSpPr/>
            <p:nvPr/>
          </p:nvSpPr>
          <p:spPr>
            <a:xfrm>
              <a:off x="314203" y="4774868"/>
              <a:ext cx="154442" cy="81543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130CC9-63BF-B044-CE10-76C078EB6DD0}"/>
                </a:ext>
              </a:extLst>
            </p:cNvPr>
            <p:cNvSpPr/>
            <p:nvPr/>
          </p:nvSpPr>
          <p:spPr>
            <a:xfrm>
              <a:off x="464633" y="4774868"/>
              <a:ext cx="2593923" cy="8154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E30B04A3-F48E-5040-8AD8-830165E4F385}"/>
                </a:ext>
              </a:extLst>
            </p:cNvPr>
            <p:cNvSpPr/>
            <p:nvPr/>
          </p:nvSpPr>
          <p:spPr>
            <a:xfrm>
              <a:off x="567929" y="4961073"/>
              <a:ext cx="2332713" cy="2192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rPr>
                <a:t>JJ Russell</a:t>
              </a:r>
              <a:endParaRPr lang="en-US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1271D22F-7731-1BEC-5045-95DA1ED81B08}"/>
                </a:ext>
              </a:extLst>
            </p:cNvPr>
            <p:cNvSpPr/>
            <p:nvPr/>
          </p:nvSpPr>
          <p:spPr>
            <a:xfrm>
              <a:off x="570996" y="5175765"/>
              <a:ext cx="2332714" cy="28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0" i="1">
                  <a:solidFill>
                    <a:srgbClr val="1E293B"/>
                  </a:solidFill>
                  <a:latin typeface="Aptos Display"/>
                  <a:ea typeface="Calibri"/>
                  <a:cs typeface="Calibri"/>
                </a:rPr>
                <a:t>Developer</a:t>
              </a:r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85AAF2-6431-F605-922F-3E0D13DD0AFD}"/>
              </a:ext>
            </a:extLst>
          </p:cNvPr>
          <p:cNvGrpSpPr/>
          <p:nvPr/>
        </p:nvGrpSpPr>
        <p:grpSpPr>
          <a:xfrm>
            <a:off x="3198917" y="4312224"/>
            <a:ext cx="2744353" cy="815439"/>
            <a:chOff x="314203" y="4774868"/>
            <a:chExt cx="2744353" cy="8154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5FAC09-2B51-F677-D5BC-1FFBDDDEF395}"/>
                </a:ext>
              </a:extLst>
            </p:cNvPr>
            <p:cNvSpPr/>
            <p:nvPr/>
          </p:nvSpPr>
          <p:spPr>
            <a:xfrm>
              <a:off x="314203" y="4774868"/>
              <a:ext cx="154442" cy="81543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76C1FF-555D-2637-1F80-BCF7EF027F98}"/>
                </a:ext>
              </a:extLst>
            </p:cNvPr>
            <p:cNvSpPr/>
            <p:nvPr/>
          </p:nvSpPr>
          <p:spPr>
            <a:xfrm>
              <a:off x="464633" y="4774868"/>
              <a:ext cx="2593923" cy="8154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FB7CF745-82D4-B614-E371-195DB2A2BAFC}"/>
                </a:ext>
              </a:extLst>
            </p:cNvPr>
            <p:cNvSpPr/>
            <p:nvPr/>
          </p:nvSpPr>
          <p:spPr>
            <a:xfrm>
              <a:off x="567929" y="4961073"/>
              <a:ext cx="2332713" cy="2192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rPr>
                <a:t>Mikolaj Wujek</a:t>
              </a:r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D804F630-E8A7-4673-6996-1F4CB041F318}"/>
                </a:ext>
              </a:extLst>
            </p:cNvPr>
            <p:cNvSpPr/>
            <p:nvPr/>
          </p:nvSpPr>
          <p:spPr>
            <a:xfrm>
              <a:off x="570996" y="5175765"/>
              <a:ext cx="2332714" cy="28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0" i="1">
                  <a:solidFill>
                    <a:srgbClr val="1E293B"/>
                  </a:solidFill>
                  <a:latin typeface="Aptos Display"/>
                  <a:ea typeface="Calibri"/>
                  <a:cs typeface="Calibri"/>
                </a:rPr>
                <a:t>Interactive Designer &amp; Manager</a:t>
              </a:r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FE7840-DCA3-35A8-73C4-263F37100DC0}"/>
              </a:ext>
            </a:extLst>
          </p:cNvPr>
          <p:cNvGrpSpPr/>
          <p:nvPr/>
        </p:nvGrpSpPr>
        <p:grpSpPr>
          <a:xfrm>
            <a:off x="6192488" y="4312224"/>
            <a:ext cx="2744353" cy="815439"/>
            <a:chOff x="314203" y="4774868"/>
            <a:chExt cx="2744353" cy="8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D8F98DD-EBB4-12D1-1B51-4CFD695F7202}"/>
                </a:ext>
              </a:extLst>
            </p:cNvPr>
            <p:cNvSpPr/>
            <p:nvPr/>
          </p:nvSpPr>
          <p:spPr>
            <a:xfrm>
              <a:off x="314203" y="4774868"/>
              <a:ext cx="154442" cy="81543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4897CD-C391-38B5-E465-7BC5EAA6126D}"/>
                </a:ext>
              </a:extLst>
            </p:cNvPr>
            <p:cNvSpPr/>
            <p:nvPr/>
          </p:nvSpPr>
          <p:spPr>
            <a:xfrm>
              <a:off x="464633" y="4774868"/>
              <a:ext cx="2593923" cy="8154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2DB7DD26-C6B7-8EBB-16BD-C39F62D0FF9A}"/>
                </a:ext>
              </a:extLst>
            </p:cNvPr>
            <p:cNvSpPr/>
            <p:nvPr/>
          </p:nvSpPr>
          <p:spPr>
            <a:xfrm>
              <a:off x="567929" y="4961073"/>
              <a:ext cx="2332713" cy="2192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rPr>
                <a:t>Stephen Landers</a:t>
              </a:r>
              <a:endParaRPr lang="en-US"/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CEB699A3-C51A-34CC-72F8-70AE9EF4CE13}"/>
                </a:ext>
              </a:extLst>
            </p:cNvPr>
            <p:cNvSpPr/>
            <p:nvPr/>
          </p:nvSpPr>
          <p:spPr>
            <a:xfrm>
              <a:off x="570996" y="5175765"/>
              <a:ext cx="2332714" cy="28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400" i="1">
                  <a:solidFill>
                    <a:srgbClr val="1E293B"/>
                  </a:solidFill>
                  <a:latin typeface="Aptos Display"/>
                  <a:ea typeface="Calibri"/>
                  <a:cs typeface="Calibri"/>
                </a:rPr>
                <a:t>UI Designer</a:t>
              </a:r>
              <a:endParaRPr lang="en-US"/>
            </a:p>
          </p:txBody>
        </p:sp>
      </p:grp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1B6F8B7B-1133-54B3-D516-454176D07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5606"/>
              </p:ext>
            </p:extLst>
          </p:nvPr>
        </p:nvGraphicFramePr>
        <p:xfrm>
          <a:off x="314202" y="5342355"/>
          <a:ext cx="11611785" cy="1351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75D7371F-9131-566E-F3E0-9DDA23FE3AAA}"/>
              </a:ext>
            </a:extLst>
          </p:cNvPr>
          <p:cNvGrpSpPr/>
          <p:nvPr/>
        </p:nvGrpSpPr>
        <p:grpSpPr>
          <a:xfrm>
            <a:off x="8872952" y="1270000"/>
            <a:ext cx="3295456" cy="3041089"/>
            <a:chOff x="8768531" y="1542143"/>
            <a:chExt cx="3178540" cy="3004804"/>
          </a:xfrm>
        </p:grpSpPr>
        <p:pic>
          <p:nvPicPr>
            <p:cNvPr id="28" name="Picture 27" descr="Black - Simple English Wikipedia, the free encyclopedia">
              <a:extLst>
                <a:ext uri="{FF2B5EF4-FFF2-40B4-BE49-F238E27FC236}">
                  <a16:creationId xmlns:a16="http://schemas.microsoft.com/office/drawing/2014/main" id="{C1251237-99AA-A012-C92E-5D526AB91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73150" y="1542143"/>
              <a:ext cx="2685325" cy="3004804"/>
            </a:xfrm>
            <a:prstGeom prst="rect">
              <a:avLst/>
            </a:prstGeom>
          </p:spPr>
        </p:pic>
        <p:pic>
          <p:nvPicPr>
            <p:cNvPr id="29" name="Picture 28" descr="A person taking a selfie&#10;&#10;AI-generated content may be incorrect.">
              <a:extLst>
                <a:ext uri="{FF2B5EF4-FFF2-40B4-BE49-F238E27FC236}">
                  <a16:creationId xmlns:a16="http://schemas.microsoft.com/office/drawing/2014/main" id="{101EE740-8CE2-2BCF-E570-C4DC3D67C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3644" b="644"/>
            <a:stretch>
              <a:fillRect/>
            </a:stretch>
          </p:blipFill>
          <p:spPr>
            <a:xfrm>
              <a:off x="8768531" y="1544651"/>
              <a:ext cx="3178540" cy="2995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75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E5F4E-A8DC-6718-1F02-E73554B2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21485DAB-5393-25FD-D0C2-DFBF522D947C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METHODS AND PROCESS OVERVIEW</a:t>
            </a:r>
            <a:endParaRPr lang="en-GB"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EAD00-53BA-BACF-8900-219EA00E5D74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Data Collection &amp; Synthesis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12E9195-DD4C-CE77-1025-2E5E627CA826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Rectangle 1">
            <a:extLst>
              <a:ext uri="{FF2B5EF4-FFF2-40B4-BE49-F238E27FC236}">
                <a16:creationId xmlns:a16="http://schemas.microsoft.com/office/drawing/2014/main" id="{ED0BB5E7-03E2-F1F1-D906-497D18A41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779065"/>
              </p:ext>
            </p:extLst>
          </p:nvPr>
        </p:nvGraphicFramePr>
        <p:xfrm>
          <a:off x="404340" y="1907627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B900E5B1-A6E6-9F8E-39B8-A89625A47B36}"/>
              </a:ext>
            </a:extLst>
          </p:cNvPr>
          <p:cNvSpPr txBox="1"/>
          <p:nvPr/>
        </p:nvSpPr>
        <p:spPr>
          <a:xfrm>
            <a:off x="502920" y="1761183"/>
            <a:ext cx="2654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/>
              <a:t>20 participants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A56AE4-C89F-1F74-2737-87749F964F84}"/>
              </a:ext>
            </a:extLst>
          </p:cNvPr>
          <p:cNvSpPr txBox="1"/>
          <p:nvPr/>
        </p:nvSpPr>
        <p:spPr>
          <a:xfrm>
            <a:off x="6347940" y="4869328"/>
            <a:ext cx="3192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/>
              <a:t>(Clustering</a:t>
            </a:r>
            <a:r>
              <a:rPr lang="en-IE" sz="1600" i="1"/>
              <a:t> insights into themes)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E53708-76D6-536B-CAD5-A7E271738003}"/>
              </a:ext>
            </a:extLst>
          </p:cNvPr>
          <p:cNvSpPr txBox="1"/>
          <p:nvPr/>
        </p:nvSpPr>
        <p:spPr>
          <a:xfrm>
            <a:off x="404340" y="6350228"/>
            <a:ext cx="59436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 i="1"/>
              <a:t>Findings were shared with designers to inform redesign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468735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A804-1D29-314B-2B8A-6B5CB860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DDD4408-5032-5388-4690-D6030E6B118A}"/>
              </a:ext>
            </a:extLst>
          </p:cNvPr>
          <p:cNvSpPr/>
          <p:nvPr/>
        </p:nvSpPr>
        <p:spPr>
          <a:xfrm>
            <a:off x="504701" y="1603167"/>
            <a:ext cx="2745179" cy="51183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7034B5-17CB-CBD3-D6B0-A9868BAF0E78}"/>
              </a:ext>
            </a:extLst>
          </p:cNvPr>
          <p:cNvSpPr/>
          <p:nvPr/>
        </p:nvSpPr>
        <p:spPr>
          <a:xfrm>
            <a:off x="504701" y="1345869"/>
            <a:ext cx="2745179" cy="2612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0A8E51DC-CC47-F761-E38C-758180AA3A0C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METHODS AND PROCESS OVERVIEW</a:t>
            </a:r>
            <a:endParaRPr lang="en-GB"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227651-3B12-E652-E67B-5F5612504F4D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Primary Persona</a:t>
            </a:r>
            <a:endParaRPr lang="en-GB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31CE13-A8CC-4C19-5704-434FDF19DDDA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007FBF-911C-E796-37C0-AF99A3E8B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3" y="4738458"/>
            <a:ext cx="2743201" cy="192479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sz="1800" b="1" i="0" u="none" strike="noStrike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Age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: 21</a:t>
            </a:r>
          </a:p>
          <a:p>
            <a:pPr marL="0" indent="0">
              <a:buNone/>
            </a:pPr>
            <a:r>
              <a:rPr lang="en-GB" sz="1800" b="1">
                <a:latin typeface="Aptos Display"/>
              </a:rPr>
              <a:t>Gender</a:t>
            </a:r>
            <a:r>
              <a:rPr lang="en-GB" sz="1800">
                <a:latin typeface="Aptos Display"/>
              </a:rPr>
              <a:t>: Male</a:t>
            </a:r>
            <a:endParaRPr lang="en-GB" sz="1800" b="1">
              <a:latin typeface="Aptos Display"/>
            </a:endParaRPr>
          </a:p>
          <a:p>
            <a:pPr marL="0" indent="0">
              <a:buNone/>
            </a:pPr>
            <a:r>
              <a:rPr lang="en-GB" sz="1800" b="1">
                <a:latin typeface="Aptos Display"/>
              </a:rPr>
              <a:t>Occupation</a:t>
            </a:r>
            <a:r>
              <a:rPr lang="en-GB" sz="1800">
                <a:latin typeface="Aptos Display"/>
              </a:rPr>
              <a:t>: Student (Law)</a:t>
            </a:r>
            <a:endParaRPr lang="en-GB"/>
          </a:p>
          <a:p>
            <a:pPr marL="0" indent="0">
              <a:buNone/>
            </a:pPr>
            <a:r>
              <a:rPr lang="en-GB" sz="1800" b="1">
                <a:latin typeface="Aptos Display"/>
              </a:rPr>
              <a:t>Location</a:t>
            </a:r>
            <a:r>
              <a:rPr lang="en-GB" sz="1800">
                <a:latin typeface="Aptos Display"/>
              </a:rPr>
              <a:t>: Cork, Ireland</a:t>
            </a:r>
            <a:endParaRPr lang="en-GB" sz="1800" b="1">
              <a:latin typeface="Aptos Display"/>
            </a:endParaRPr>
          </a:p>
          <a:p>
            <a:pPr marL="0" indent="0">
              <a:buNone/>
            </a:pPr>
            <a:r>
              <a:rPr lang="en-GB" sz="1800" b="1">
                <a:latin typeface="Aptos Display"/>
              </a:rPr>
              <a:t>Tech Skill Level</a:t>
            </a:r>
            <a:r>
              <a:rPr lang="en-GB" sz="1800">
                <a:latin typeface="Aptos Display"/>
              </a:rPr>
              <a:t>: Medium</a:t>
            </a:r>
          </a:p>
          <a:p>
            <a:pPr marL="0" indent="0">
              <a:buNone/>
            </a:pPr>
            <a:r>
              <a:rPr lang="en-GB" sz="1800" b="1">
                <a:latin typeface="Aptos Display"/>
              </a:rPr>
              <a:t>Smartphone</a:t>
            </a:r>
            <a:r>
              <a:rPr lang="en-GB" sz="1800">
                <a:latin typeface="Aptos Display"/>
              </a:rPr>
              <a:t>: iPhone 15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9CDAF33-788F-AF6A-547B-D68F728C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5145" y="6861051"/>
            <a:ext cx="4114800" cy="365125"/>
          </a:xfrm>
        </p:spPr>
        <p:txBody>
          <a:bodyPr/>
          <a:lstStyle/>
          <a:p>
            <a:r>
              <a:rPr lang="en-GB"/>
              <a:t>
              </a:t>
            </a:r>
          </a:p>
        </p:txBody>
      </p:sp>
      <p:pic>
        <p:nvPicPr>
          <p:cNvPr id="14" name="Picture 4" descr="Character person Images - Free Download on Freepik">
            <a:extLst>
              <a:ext uri="{FF2B5EF4-FFF2-40B4-BE49-F238E27FC236}">
                <a16:creationId xmlns:a16="http://schemas.microsoft.com/office/drawing/2014/main" id="{2E71ED7C-37FB-0A85-E2CB-ED26988C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35655" y="1479401"/>
            <a:ext cx="327987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D624EE5-61A8-1A1C-9289-AC70DBCD35B8}"/>
              </a:ext>
            </a:extLst>
          </p:cNvPr>
          <p:cNvGrpSpPr/>
          <p:nvPr/>
        </p:nvGrpSpPr>
        <p:grpSpPr>
          <a:xfrm>
            <a:off x="4205843" y="841167"/>
            <a:ext cx="2131620" cy="4932217"/>
            <a:chOff x="4205843" y="841167"/>
            <a:chExt cx="2131620" cy="493221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9D5E491-D8F5-4577-3E6D-487D51F96278}"/>
                </a:ext>
              </a:extLst>
            </p:cNvPr>
            <p:cNvGrpSpPr/>
            <p:nvPr/>
          </p:nvGrpSpPr>
          <p:grpSpPr>
            <a:xfrm>
              <a:off x="4205843" y="841167"/>
              <a:ext cx="2121725" cy="4932217"/>
              <a:chOff x="504700" y="1365661"/>
              <a:chExt cx="2121725" cy="493221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26829FB-B434-C773-CC66-4D5518549412}"/>
                  </a:ext>
                </a:extLst>
              </p:cNvPr>
              <p:cNvSpPr/>
              <p:nvPr/>
            </p:nvSpPr>
            <p:spPr>
              <a:xfrm>
                <a:off x="504701" y="1365661"/>
                <a:ext cx="2121724" cy="7571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5112A36-1846-8501-06C6-912DFC9D7A84}"/>
                  </a:ext>
                </a:extLst>
              </p:cNvPr>
              <p:cNvSpPr/>
              <p:nvPr/>
            </p:nvSpPr>
            <p:spPr>
              <a:xfrm>
                <a:off x="504700" y="2122760"/>
                <a:ext cx="2121724" cy="41751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B7A94B-8EB3-533D-86B1-47194B1A0B4D}"/>
                  </a:ext>
                </a:extLst>
              </p:cNvPr>
              <p:cNvSpPr txBox="1"/>
              <p:nvPr/>
            </p:nvSpPr>
            <p:spPr>
              <a:xfrm>
                <a:off x="556161" y="1513378"/>
                <a:ext cx="1882238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2400" b="1">
                    <a:solidFill>
                      <a:schemeClr val="bg1"/>
                    </a:solidFill>
                    <a:latin typeface="Aptos Display"/>
                  </a:rPr>
                  <a:t>Goals</a:t>
                </a:r>
                <a:endParaRPr lang="en-GB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6154CAD-8502-D231-458D-ACFF0D7F8290}"/>
                </a:ext>
              </a:extLst>
            </p:cNvPr>
            <p:cNvSpPr txBox="1"/>
            <p:nvPr/>
          </p:nvSpPr>
          <p:spPr>
            <a:xfrm>
              <a:off x="4217717" y="1846062"/>
              <a:ext cx="2119746" cy="36933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Submit assignments quickly &amp; confidently</a:t>
              </a:r>
            </a:p>
            <a:p>
              <a:endParaRPr lang="en-GB">
                <a:latin typeface="Aptos Display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Access lecture materials easily</a:t>
              </a:r>
            </a:p>
            <a:p>
              <a:endParaRPr lang="en-GB">
                <a:latin typeface="Aptos Display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Stay organised</a:t>
              </a:r>
            </a:p>
            <a:p>
              <a:pPr marL="285750" indent="-285750">
                <a:buFont typeface="Arial,Sans-Serif"/>
                <a:buChar char="•"/>
              </a:pPr>
              <a:endParaRPr lang="en-GB">
                <a:latin typeface="Aptos Display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Know what tasks are coming up next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2D09AA-8F42-FB20-6A27-96062535DBAA}"/>
              </a:ext>
            </a:extLst>
          </p:cNvPr>
          <p:cNvGrpSpPr/>
          <p:nvPr/>
        </p:nvGrpSpPr>
        <p:grpSpPr>
          <a:xfrm>
            <a:off x="9678388" y="841167"/>
            <a:ext cx="2179119" cy="4952034"/>
            <a:chOff x="4205843" y="841167"/>
            <a:chExt cx="2179119" cy="495203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E7451C7-F373-7B35-D9BC-F9242DA0167C}"/>
                </a:ext>
              </a:extLst>
            </p:cNvPr>
            <p:cNvGrpSpPr/>
            <p:nvPr/>
          </p:nvGrpSpPr>
          <p:grpSpPr>
            <a:xfrm>
              <a:off x="4205843" y="841167"/>
              <a:ext cx="2121725" cy="4932217"/>
              <a:chOff x="504700" y="1365661"/>
              <a:chExt cx="2121725" cy="4932217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E56E47-3A8C-FEF3-CBD3-2B8C96C66399}"/>
                  </a:ext>
                </a:extLst>
              </p:cNvPr>
              <p:cNvSpPr/>
              <p:nvPr/>
            </p:nvSpPr>
            <p:spPr>
              <a:xfrm>
                <a:off x="504701" y="1365661"/>
                <a:ext cx="2121724" cy="760641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ACAE2C9-3AA2-CCE3-346B-B07D7843E340}"/>
                  </a:ext>
                </a:extLst>
              </p:cNvPr>
              <p:cNvSpPr/>
              <p:nvPr/>
            </p:nvSpPr>
            <p:spPr>
              <a:xfrm>
                <a:off x="504700" y="2122760"/>
                <a:ext cx="2121724" cy="41751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EE313B-7176-659B-1548-848077A2E23A}"/>
                  </a:ext>
                </a:extLst>
              </p:cNvPr>
              <p:cNvSpPr txBox="1"/>
              <p:nvPr/>
            </p:nvSpPr>
            <p:spPr>
              <a:xfrm>
                <a:off x="663036" y="1521258"/>
                <a:ext cx="1882238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2400" b="1">
                    <a:solidFill>
                      <a:schemeClr val="bg1"/>
                    </a:solidFill>
                    <a:latin typeface="Aptos Display"/>
                  </a:rPr>
                  <a:t>Frustrations</a:t>
                </a:r>
                <a:endParaRPr lang="en-GB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C7F5BF-8A81-B1E2-4396-A6A0A8BC8C7D}"/>
                </a:ext>
              </a:extLst>
            </p:cNvPr>
            <p:cNvSpPr txBox="1"/>
            <p:nvPr/>
          </p:nvSpPr>
          <p:spPr>
            <a:xfrm>
              <a:off x="4265216" y="1776717"/>
              <a:ext cx="2119746" cy="401648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,Sans-Serif"/>
                <a:buChar char="•"/>
              </a:pPr>
              <a:r>
                <a:rPr lang="en-GB" sz="1700">
                  <a:latin typeface="Aptos Display"/>
                </a:rPr>
                <a:t>Hard to find assignments.</a:t>
              </a:r>
            </a:p>
            <a:p>
              <a:endParaRPr lang="en-GB" sz="1700">
                <a:latin typeface="Aptos Display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700">
                  <a:latin typeface="Aptos Display"/>
                </a:rPr>
                <a:t>Confusing module layouts.</a:t>
              </a:r>
            </a:p>
            <a:p>
              <a:endParaRPr lang="en-GB" sz="17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GB" sz="1700">
                  <a:latin typeface="Aptos Display"/>
                </a:rPr>
                <a:t>Doesn't trust submissions.</a:t>
              </a:r>
            </a:p>
            <a:p>
              <a:endParaRPr lang="en-GB" sz="17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GB" sz="1700">
                  <a:latin typeface="Aptos Display"/>
                </a:rPr>
                <a:t>Hard to tell when things are due.</a:t>
              </a:r>
            </a:p>
            <a:p>
              <a:pPr marL="285750" indent="-285750">
                <a:buFont typeface="Arial"/>
                <a:buChar char="•"/>
              </a:pPr>
              <a:endParaRPr lang="en-GB" sz="17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GB" sz="1700">
                  <a:latin typeface="Aptos Display"/>
                </a:rPr>
                <a:t>Cannot use the dyslexic font on mobile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0E3E3ED-80E7-9B46-4540-C4AF1F4493FC}"/>
              </a:ext>
            </a:extLst>
          </p:cNvPr>
          <p:cNvGrpSpPr/>
          <p:nvPr/>
        </p:nvGrpSpPr>
        <p:grpSpPr>
          <a:xfrm>
            <a:off x="6952011" y="841166"/>
            <a:ext cx="2161307" cy="4932217"/>
            <a:chOff x="4195947" y="841167"/>
            <a:chExt cx="2161307" cy="493221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390355B-8793-1624-113B-FE378B2373EB}"/>
                </a:ext>
              </a:extLst>
            </p:cNvPr>
            <p:cNvGrpSpPr/>
            <p:nvPr/>
          </p:nvGrpSpPr>
          <p:grpSpPr>
            <a:xfrm>
              <a:off x="4205843" y="841167"/>
              <a:ext cx="2121725" cy="4932217"/>
              <a:chOff x="504700" y="1365661"/>
              <a:chExt cx="2121725" cy="493221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7FCDCFD-4CAB-7670-10D4-6957FB669F56}"/>
                  </a:ext>
                </a:extLst>
              </p:cNvPr>
              <p:cNvSpPr/>
              <p:nvPr/>
            </p:nvSpPr>
            <p:spPr>
              <a:xfrm>
                <a:off x="504701" y="1365661"/>
                <a:ext cx="2121724" cy="7571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4454969-530C-9737-53C1-B85633340035}"/>
                  </a:ext>
                </a:extLst>
              </p:cNvPr>
              <p:cNvSpPr/>
              <p:nvPr/>
            </p:nvSpPr>
            <p:spPr>
              <a:xfrm>
                <a:off x="504700" y="2126303"/>
                <a:ext cx="2121724" cy="41715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7F6300-1E71-59F4-0108-8513E3CADFDC}"/>
                  </a:ext>
                </a:extLst>
              </p:cNvPr>
              <p:cNvSpPr txBox="1"/>
              <p:nvPr/>
            </p:nvSpPr>
            <p:spPr>
              <a:xfrm>
                <a:off x="624443" y="1511940"/>
                <a:ext cx="1882238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2400" b="1">
                    <a:solidFill>
                      <a:schemeClr val="bg1"/>
                    </a:solidFill>
                    <a:latin typeface="Aptos Display"/>
                  </a:rPr>
                  <a:t>Behaviours</a:t>
                </a:r>
                <a:endParaRPr lang="en-GB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CE2B529-A624-CB1D-5099-0FEEFA315072}"/>
                </a:ext>
              </a:extLst>
            </p:cNvPr>
            <p:cNvSpPr txBox="1"/>
            <p:nvPr/>
          </p:nvSpPr>
          <p:spPr>
            <a:xfrm>
              <a:off x="4195947" y="1846063"/>
              <a:ext cx="2161307" cy="25853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Checks app daily</a:t>
              </a:r>
            </a:p>
            <a:p>
              <a:endParaRPr lang="en-GB">
                <a:latin typeface="Aptos Display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Switches between modules frequently.</a:t>
              </a:r>
            </a:p>
            <a:p>
              <a:endParaRPr lang="en-GB">
                <a:latin typeface="Aptos Display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GB">
                  <a:latin typeface="Aptos Display"/>
                </a:rPr>
                <a:t>Uses external tools (calendar, notes)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B9FDE02-B3B9-2223-C84D-5A4E3006A2D3}"/>
              </a:ext>
            </a:extLst>
          </p:cNvPr>
          <p:cNvGrpSpPr/>
          <p:nvPr/>
        </p:nvGrpSpPr>
        <p:grpSpPr>
          <a:xfrm>
            <a:off x="4205846" y="5898077"/>
            <a:ext cx="7594267" cy="825335"/>
            <a:chOff x="4641273" y="1227116"/>
            <a:chExt cx="5169723" cy="9144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BBAFCE5-2673-CA19-D2F0-307C240D768C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1C4EB55-8ED6-DE87-F27D-5DEE70151CE1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5AD0941-65F3-EA30-E596-EE4BD21573AB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CBF024E-C3F6-1727-8B09-AC4C85AE3D57}"/>
                </a:ext>
              </a:extLst>
            </p:cNvPr>
            <p:cNvGrpSpPr/>
            <p:nvPr/>
          </p:nvGrpSpPr>
          <p:grpSpPr>
            <a:xfrm>
              <a:off x="4884906" y="1364713"/>
              <a:ext cx="4743411" cy="732893"/>
              <a:chOff x="4883709" y="1364713"/>
              <a:chExt cx="5585775" cy="732893"/>
            </a:xfrm>
          </p:grpSpPr>
          <p:sp>
            <p:nvSpPr>
              <p:cNvPr id="56" name="Text 8">
                <a:extLst>
                  <a:ext uri="{FF2B5EF4-FFF2-40B4-BE49-F238E27FC236}">
                    <a16:creationId xmlns:a16="http://schemas.microsoft.com/office/drawing/2014/main" id="{0AF54CA5-FC20-6FB1-1E11-311CDFEF61D1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Key Quotes</a:t>
                </a:r>
                <a:endParaRPr lang="en-GB"/>
              </a:p>
            </p:txBody>
          </p:sp>
          <p:sp>
            <p:nvSpPr>
              <p:cNvPr id="58" name="Text 9">
                <a:extLst>
                  <a:ext uri="{FF2B5EF4-FFF2-40B4-BE49-F238E27FC236}">
                    <a16:creationId xmlns:a16="http://schemas.microsoft.com/office/drawing/2014/main" id="{36068FA0-B41B-BC99-3E92-0E912A9EC37C}"/>
                  </a:ext>
                </a:extLst>
              </p:cNvPr>
              <p:cNvSpPr/>
              <p:nvPr/>
            </p:nvSpPr>
            <p:spPr>
              <a:xfrm>
                <a:off x="4883709" y="1786710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1400" i="1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"I just want to quickly find my assignments without wasting time searching"</a:t>
                </a:r>
              </a:p>
              <a:p>
                <a:r>
                  <a:rPr lang="en-GB" sz="1400" i="1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“The to-do list feels unreliable”</a:t>
                </a:r>
                <a:endParaRPr lang="en-GB" sz="1400">
                  <a:solidFill>
                    <a:srgbClr val="1E293B"/>
                  </a:solidFill>
                  <a:latin typeface="Aptos Display"/>
                  <a:ea typeface="Calibri"/>
                  <a:cs typeface="Calibri"/>
                </a:endParaRPr>
              </a:p>
              <a:p>
                <a:endParaRPr lang="en-GB" sz="1400" i="1">
                  <a:solidFill>
                    <a:srgbClr val="1E293B"/>
                  </a:solidFill>
                  <a:latin typeface="Aptos Display"/>
                  <a:ea typeface="Calibri"/>
                  <a:cs typeface="Calibri"/>
                </a:endParaRPr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9263C42-7239-B605-9E09-2A6C6ADB5BC3}"/>
              </a:ext>
            </a:extLst>
          </p:cNvPr>
          <p:cNvSpPr txBox="1"/>
          <p:nvPr/>
        </p:nvSpPr>
        <p:spPr>
          <a:xfrm>
            <a:off x="639507" y="411553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latin typeface="Aptos Display"/>
              </a:rPr>
              <a:t>John Doe  Russolo</a:t>
            </a:r>
            <a:endParaRPr lang="en-GB" sz="24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31118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FE61-9CA8-6EE0-7A53-CDBCFBA6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24389412-C192-E90E-FD36-32D4784493B3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METHODS AND PROCESS OVERVIEW</a:t>
            </a:r>
            <a:endParaRPr lang="en-US"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F03D1-57FD-3D23-5BF4-A658A7C7566F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From Insights to Design Requirements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A13880A-284D-2354-6556-F10BB17DF846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C0677BE-C601-6D32-8E59-16B70396C33E}"/>
              </a:ext>
            </a:extLst>
          </p:cNvPr>
          <p:cNvSpPr txBox="1"/>
          <p:nvPr/>
        </p:nvSpPr>
        <p:spPr>
          <a:xfrm>
            <a:off x="404339" y="1523090"/>
            <a:ext cx="1150883" cy="38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900" b="1">
                <a:solidFill>
                  <a:srgbClr val="FF0000"/>
                </a:solidFill>
                <a:latin typeface="Aptos"/>
              </a:rPr>
              <a:t>Persona</a:t>
            </a:r>
          </a:p>
        </p:txBody>
      </p:sp>
      <p:pic>
        <p:nvPicPr>
          <p:cNvPr id="3" name="Graphic 2" descr="Arrow Right with solid fill">
            <a:extLst>
              <a:ext uri="{FF2B5EF4-FFF2-40B4-BE49-F238E27FC236}">
                <a16:creationId xmlns:a16="http://schemas.microsoft.com/office/drawing/2014/main" id="{ECB13793-93CE-6864-8C41-04EFF9F57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7407" y="1324249"/>
            <a:ext cx="782469" cy="782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80D378-EDCD-80E0-E823-62888E3F27B3}"/>
              </a:ext>
            </a:extLst>
          </p:cNvPr>
          <p:cNvSpPr txBox="1"/>
          <p:nvPr/>
        </p:nvSpPr>
        <p:spPr>
          <a:xfrm>
            <a:off x="2330695" y="1523124"/>
            <a:ext cx="183371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>
                <a:solidFill>
                  <a:srgbClr val="FF0000"/>
                </a:solidFill>
              </a:rPr>
              <a:t>Storyboarding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00079-CC07-8826-1B05-46752CD49A2E}"/>
              </a:ext>
            </a:extLst>
          </p:cNvPr>
          <p:cNvSpPr txBox="1"/>
          <p:nvPr/>
        </p:nvSpPr>
        <p:spPr>
          <a:xfrm>
            <a:off x="4922307" y="1538611"/>
            <a:ext cx="316193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>
                <a:solidFill>
                  <a:srgbClr val="FF0000"/>
                </a:solidFill>
              </a:rPr>
              <a:t>Hierarchical Task Analysis</a:t>
            </a:r>
          </a:p>
        </p:txBody>
      </p:sp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7D165964-1ED2-9FC9-8334-47851B190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0669" y="1337025"/>
            <a:ext cx="782469" cy="78246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07CE9F1-12DF-3187-DB0B-C5B46DD92F7A}"/>
              </a:ext>
            </a:extLst>
          </p:cNvPr>
          <p:cNvGrpSpPr/>
          <p:nvPr/>
        </p:nvGrpSpPr>
        <p:grpSpPr>
          <a:xfrm>
            <a:off x="503468" y="2400191"/>
            <a:ext cx="3866535" cy="1503305"/>
            <a:chOff x="231325" y="2409262"/>
            <a:chExt cx="3866535" cy="150330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3D8355-BDAD-3F0D-F57A-86685C34A97B}"/>
                </a:ext>
              </a:extLst>
            </p:cNvPr>
            <p:cNvSpPr txBox="1"/>
            <p:nvPr/>
          </p:nvSpPr>
          <p:spPr>
            <a:xfrm>
              <a:off x="231325" y="2989237"/>
              <a:ext cx="3866534" cy="923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User journey visualization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Identified pain points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e.g. difficulty finding assignments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24980B-0B30-D65F-2966-57636484CDE5}"/>
                </a:ext>
              </a:extLst>
            </p:cNvPr>
            <p:cNvSpPr/>
            <p:nvPr/>
          </p:nvSpPr>
          <p:spPr>
            <a:xfrm>
              <a:off x="231326" y="2409262"/>
              <a:ext cx="3866534" cy="58477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noProof="0"/>
                <a:t>Storyboarding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4A55AB-C7C8-F96D-7B4D-0F02FC51564A}"/>
              </a:ext>
            </a:extLst>
          </p:cNvPr>
          <p:cNvGrpSpPr/>
          <p:nvPr/>
        </p:nvGrpSpPr>
        <p:grpSpPr>
          <a:xfrm>
            <a:off x="8085071" y="2395396"/>
            <a:ext cx="3642387" cy="1507615"/>
            <a:chOff x="8094142" y="2404467"/>
            <a:chExt cx="3642387" cy="15076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A54758-E6E8-2278-AC9F-926725C9FF0F}"/>
                </a:ext>
              </a:extLst>
            </p:cNvPr>
            <p:cNvSpPr txBox="1"/>
            <p:nvPr/>
          </p:nvSpPr>
          <p:spPr>
            <a:xfrm>
              <a:off x="8094143" y="2988752"/>
              <a:ext cx="3642386" cy="923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Task breakdown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Identified inefficiencies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Too many steps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C9AB03-1428-ED17-5736-86FD32DA0D56}"/>
                </a:ext>
              </a:extLst>
            </p:cNvPr>
            <p:cNvSpPr/>
            <p:nvPr/>
          </p:nvSpPr>
          <p:spPr>
            <a:xfrm>
              <a:off x="8094142" y="2404467"/>
              <a:ext cx="3642387" cy="58477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noProof="0"/>
                <a:t>Hierarchical Task Analysis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D5657D-BB42-43E4-11F3-3F61E851837A}"/>
              </a:ext>
            </a:extLst>
          </p:cNvPr>
          <p:cNvGrpSpPr/>
          <p:nvPr/>
        </p:nvGrpSpPr>
        <p:grpSpPr>
          <a:xfrm>
            <a:off x="5195192" y="4387693"/>
            <a:ext cx="3819998" cy="1512356"/>
            <a:chOff x="4149734" y="4399380"/>
            <a:chExt cx="3918409" cy="151235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C19E61-C4FE-E705-DDBE-BC8B618A25B9}"/>
                </a:ext>
              </a:extLst>
            </p:cNvPr>
            <p:cNvSpPr txBox="1"/>
            <p:nvPr/>
          </p:nvSpPr>
          <p:spPr>
            <a:xfrm>
              <a:off x="4149734" y="4988406"/>
              <a:ext cx="3918409" cy="923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Reduce navigation steps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Improve assignment visibility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Simplify workflows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AF87E1-8835-CAD0-E0A8-42C137445831}"/>
                </a:ext>
              </a:extLst>
            </p:cNvPr>
            <p:cNvSpPr/>
            <p:nvPr/>
          </p:nvSpPr>
          <p:spPr>
            <a:xfrm>
              <a:off x="4149734" y="4399380"/>
              <a:ext cx="3918409" cy="58477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noProof="0"/>
                <a:t>Design Requirements</a:t>
              </a:r>
            </a:p>
          </p:txBody>
        </p:sp>
      </p:grpSp>
      <p:pic>
        <p:nvPicPr>
          <p:cNvPr id="8" name="Graphic 7" descr="Arrow Right with solid fill">
            <a:extLst>
              <a:ext uri="{FF2B5EF4-FFF2-40B4-BE49-F238E27FC236}">
                <a16:creationId xmlns:a16="http://schemas.microsoft.com/office/drawing/2014/main" id="{0174A8ED-BC3D-AD5F-DA1F-F07650B62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7935" y="1344042"/>
            <a:ext cx="782469" cy="7824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C38150-6DB1-8014-BE4D-5285A798008B}"/>
              </a:ext>
            </a:extLst>
          </p:cNvPr>
          <p:cNvSpPr txBox="1"/>
          <p:nvPr/>
        </p:nvSpPr>
        <p:spPr>
          <a:xfrm>
            <a:off x="8866715" y="1538611"/>
            <a:ext cx="260775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>
                <a:solidFill>
                  <a:srgbClr val="FF0000"/>
                </a:solidFill>
              </a:rPr>
              <a:t>Design Requirements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7D322A-F12C-B29D-DCEC-3822FB26FE37}"/>
              </a:ext>
            </a:extLst>
          </p:cNvPr>
          <p:cNvSpPr txBox="1"/>
          <p:nvPr/>
        </p:nvSpPr>
        <p:spPr>
          <a:xfrm>
            <a:off x="310818" y="6367857"/>
            <a:ext cx="61010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E" i="1"/>
              <a:t>Used to  identify inefficiencies and reduce cognitive load</a:t>
            </a:r>
            <a:endParaRPr lang="en-US" i="1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C3C4D6-0823-6C5A-6D9B-1F5155EF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0403"/>
            <a:ext cx="5032173" cy="59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23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CA0D-85A0-2BAF-7FAE-DD0CEC98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3F31BD43-2242-AE48-76DA-CE59B7C82108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METHODS AND PROCESS OVERVIEW</a:t>
            </a:r>
            <a:endParaRPr lang="en-US"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331B44-835B-474E-F3EF-F18A4C8D02A5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Prioritisation</a:t>
            </a:r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 Framework (</a:t>
            </a:r>
            <a:r>
              <a:rPr lang="en-US" sz="3200" b="1" err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MoSCoW</a:t>
            </a:r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)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BD350F-C3C3-C416-8B1D-BF908B196489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5D02CD-949F-F063-FD6F-4FC7DDB8287F}"/>
              </a:ext>
            </a:extLst>
          </p:cNvPr>
          <p:cNvSpPr txBox="1"/>
          <p:nvPr/>
        </p:nvSpPr>
        <p:spPr>
          <a:xfrm>
            <a:off x="505014" y="6414467"/>
            <a:ext cx="873020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E" i="1">
                <a:effectLst/>
                <a:latin typeface="Aptos Display"/>
              </a:rPr>
              <a:t>Prioritised based on frequency</a:t>
            </a:r>
            <a:r>
              <a:rPr lang="en-IE" i="1">
                <a:latin typeface="Aptos Display"/>
              </a:rPr>
              <a:t> of use</a:t>
            </a:r>
            <a:r>
              <a:rPr lang="en-IE" i="1">
                <a:effectLst/>
                <a:latin typeface="Aptos Display"/>
              </a:rPr>
              <a:t>, usability impact, and cognitive load</a:t>
            </a:r>
            <a:r>
              <a:rPr lang="en-IE" i="1">
                <a:latin typeface="Aptos Display"/>
              </a:rPr>
              <a:t>.</a:t>
            </a:r>
            <a:endParaRPr lang="en-IE" i="1">
              <a:effectLst/>
              <a:latin typeface="Aptos Display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A7088D-C64A-8469-07B3-333CB54C98A0}"/>
              </a:ext>
            </a:extLst>
          </p:cNvPr>
          <p:cNvGrpSpPr/>
          <p:nvPr/>
        </p:nvGrpSpPr>
        <p:grpSpPr>
          <a:xfrm>
            <a:off x="504700" y="1365661"/>
            <a:ext cx="2121725" cy="4932217"/>
            <a:chOff x="504700" y="1365661"/>
            <a:chExt cx="2121725" cy="493221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A9E7B2-969C-B28A-A965-AA3C8D70EEA5}"/>
                </a:ext>
              </a:extLst>
            </p:cNvPr>
            <p:cNvSpPr/>
            <p:nvPr/>
          </p:nvSpPr>
          <p:spPr>
            <a:xfrm>
              <a:off x="504701" y="1365661"/>
              <a:ext cx="2121724" cy="914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D417DA3-BE86-859A-3282-B9F2355F6F94}"/>
                </a:ext>
              </a:extLst>
            </p:cNvPr>
            <p:cNvSpPr/>
            <p:nvPr/>
          </p:nvSpPr>
          <p:spPr>
            <a:xfrm>
              <a:off x="504700" y="2276102"/>
              <a:ext cx="2121724" cy="40217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798710-CBDF-B84D-052E-B2B8A2CAE511}"/>
                </a:ext>
              </a:extLst>
            </p:cNvPr>
            <p:cNvSpPr txBox="1"/>
            <p:nvPr/>
          </p:nvSpPr>
          <p:spPr>
            <a:xfrm>
              <a:off x="623454" y="1583377"/>
              <a:ext cx="1882238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ptos Display"/>
                </a:rPr>
                <a:t>Must Have</a:t>
              </a:r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68AC4DA-A6A2-9EEA-8B05-D2A91203B234}"/>
              </a:ext>
            </a:extLst>
          </p:cNvPr>
          <p:cNvSpPr txBox="1"/>
          <p:nvPr/>
        </p:nvSpPr>
        <p:spPr>
          <a:xfrm>
            <a:off x="511296" y="2552712"/>
            <a:ext cx="211974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</a:rPr>
              <a:t>Search bar</a:t>
            </a:r>
          </a:p>
          <a:p>
            <a:endParaRPr lang="en-US">
              <a:latin typeface="Aptos Display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</a:rPr>
              <a:t>Urgent task warning</a:t>
            </a:r>
          </a:p>
          <a:p>
            <a:endParaRPr lang="en-US">
              <a:latin typeface="Aptos Display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</a:rPr>
              <a:t>Consistent module layout</a:t>
            </a:r>
          </a:p>
          <a:p>
            <a:endParaRPr lang="en-US">
              <a:latin typeface="Aptos Display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</a:rPr>
              <a:t>Submission confirmation</a:t>
            </a:r>
          </a:p>
          <a:p>
            <a:endParaRPr lang="en-US">
              <a:latin typeface="Aptos Display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</a:rPr>
              <a:t>Grades tab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ptos Display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1388B4-4C5C-471B-9B3C-C59F71CF7A0B}"/>
              </a:ext>
            </a:extLst>
          </p:cNvPr>
          <p:cNvGrpSpPr/>
          <p:nvPr/>
        </p:nvGrpSpPr>
        <p:grpSpPr>
          <a:xfrm>
            <a:off x="3526311" y="1365661"/>
            <a:ext cx="2121725" cy="4932217"/>
            <a:chOff x="504700" y="1365661"/>
            <a:chExt cx="2121725" cy="493221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BA5FBC-2454-1F8E-76AC-76ECA775F5EE}"/>
                </a:ext>
              </a:extLst>
            </p:cNvPr>
            <p:cNvSpPr/>
            <p:nvPr/>
          </p:nvSpPr>
          <p:spPr>
            <a:xfrm>
              <a:off x="504701" y="1365661"/>
              <a:ext cx="2121724" cy="914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9E0418C-D8C7-D6D7-6401-3F796ABC8BCE}"/>
                </a:ext>
              </a:extLst>
            </p:cNvPr>
            <p:cNvSpPr/>
            <p:nvPr/>
          </p:nvSpPr>
          <p:spPr>
            <a:xfrm>
              <a:off x="504700" y="2276102"/>
              <a:ext cx="2121724" cy="40217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EB5D15-906F-68E4-4398-2917540B1202}"/>
                </a:ext>
              </a:extLst>
            </p:cNvPr>
            <p:cNvSpPr txBox="1"/>
            <p:nvPr/>
          </p:nvSpPr>
          <p:spPr>
            <a:xfrm>
              <a:off x="623454" y="1583377"/>
              <a:ext cx="1882238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ptos Display"/>
                </a:rPr>
                <a:t>Should Have</a:t>
              </a:r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6F2A23D-8EA1-17B5-0710-D26E4637BEE8}"/>
              </a:ext>
            </a:extLst>
          </p:cNvPr>
          <p:cNvGrpSpPr/>
          <p:nvPr/>
        </p:nvGrpSpPr>
        <p:grpSpPr>
          <a:xfrm>
            <a:off x="6547921" y="1365660"/>
            <a:ext cx="2121725" cy="4932217"/>
            <a:chOff x="504700" y="1365661"/>
            <a:chExt cx="2121725" cy="493221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38ED8A-0D20-A85C-3907-8E8DF21AA6B9}"/>
                </a:ext>
              </a:extLst>
            </p:cNvPr>
            <p:cNvSpPr/>
            <p:nvPr/>
          </p:nvSpPr>
          <p:spPr>
            <a:xfrm>
              <a:off x="504701" y="1365661"/>
              <a:ext cx="2121724" cy="914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03517CD-E41D-FAAB-EC64-AA4F7550E0CB}"/>
                </a:ext>
              </a:extLst>
            </p:cNvPr>
            <p:cNvSpPr/>
            <p:nvPr/>
          </p:nvSpPr>
          <p:spPr>
            <a:xfrm>
              <a:off x="504700" y="2276102"/>
              <a:ext cx="2121724" cy="40217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0DA19F-ACF1-E5B3-E19F-2D7BF1214E75}"/>
                </a:ext>
              </a:extLst>
            </p:cNvPr>
            <p:cNvSpPr txBox="1"/>
            <p:nvPr/>
          </p:nvSpPr>
          <p:spPr>
            <a:xfrm>
              <a:off x="623454" y="1583377"/>
              <a:ext cx="1882238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ptos Display"/>
                </a:rPr>
                <a:t>Could Have</a:t>
              </a:r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5FE734-7FB4-2712-63C4-9D01E51CD9FC}"/>
              </a:ext>
            </a:extLst>
          </p:cNvPr>
          <p:cNvGrpSpPr/>
          <p:nvPr/>
        </p:nvGrpSpPr>
        <p:grpSpPr>
          <a:xfrm>
            <a:off x="9566232" y="1365660"/>
            <a:ext cx="2121725" cy="4932217"/>
            <a:chOff x="504700" y="1365661"/>
            <a:chExt cx="2121725" cy="493221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782A085-1D8C-E044-6D3E-A86DA358F97B}"/>
                </a:ext>
              </a:extLst>
            </p:cNvPr>
            <p:cNvSpPr/>
            <p:nvPr/>
          </p:nvSpPr>
          <p:spPr>
            <a:xfrm>
              <a:off x="504701" y="1365661"/>
              <a:ext cx="2121724" cy="914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0175867-3CE3-7FC5-3210-918BAE4C7FA3}"/>
                </a:ext>
              </a:extLst>
            </p:cNvPr>
            <p:cNvSpPr/>
            <p:nvPr/>
          </p:nvSpPr>
          <p:spPr>
            <a:xfrm>
              <a:off x="504700" y="2276102"/>
              <a:ext cx="2121724" cy="40217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5074C5-8F5E-EC74-621A-A7205B49597C}"/>
                </a:ext>
              </a:extLst>
            </p:cNvPr>
            <p:cNvSpPr txBox="1"/>
            <p:nvPr/>
          </p:nvSpPr>
          <p:spPr>
            <a:xfrm>
              <a:off x="623454" y="1583377"/>
              <a:ext cx="1882238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ptos Display"/>
                </a:rPr>
                <a:t>Won't Have</a:t>
              </a:r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B3D6DFD-D73E-0B47-12FD-4BB54F42B235}"/>
              </a:ext>
            </a:extLst>
          </p:cNvPr>
          <p:cNvSpPr txBox="1"/>
          <p:nvPr/>
        </p:nvSpPr>
        <p:spPr>
          <a:xfrm>
            <a:off x="3521033" y="2552712"/>
            <a:ext cx="211776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 Display"/>
                <a:cs typeface="Arial"/>
              </a:rPr>
              <a:t>To-Do list task grouping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Grades summary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Task status badges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Dyslexia-friendly font</a:t>
            </a:r>
          </a:p>
          <a:p>
            <a:pPr marL="285750" indent="-285750">
              <a:buFont typeface="Arial,Sans-Serif"/>
              <a:buChar char="•"/>
            </a:pPr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Clear Return Navigation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CECCE1-DCB7-4B0E-5A3E-5259F483AFC4}"/>
              </a:ext>
            </a:extLst>
          </p:cNvPr>
          <p:cNvSpPr txBox="1"/>
          <p:nvPr/>
        </p:nvSpPr>
        <p:spPr>
          <a:xfrm>
            <a:off x="6551878" y="2552712"/>
            <a:ext cx="211776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 Display"/>
                <a:cs typeface="Arial"/>
              </a:rPr>
              <a:t>Dark / light mode toggle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Module progress bar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Recent submissions quick access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07B505-CD92-E357-832A-1A6FD26B2061}"/>
              </a:ext>
            </a:extLst>
          </p:cNvPr>
          <p:cNvSpPr txBox="1"/>
          <p:nvPr/>
        </p:nvSpPr>
        <p:spPr>
          <a:xfrm>
            <a:off x="9569533" y="2552712"/>
            <a:ext cx="21177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 Display"/>
                <a:cs typeface="Arial"/>
              </a:rPr>
              <a:t>Calendar sync with 3rd party apps</a:t>
            </a:r>
          </a:p>
          <a:p>
            <a:endParaRPr lang="en-US">
              <a:latin typeface="Aptos Display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Aptos Display"/>
                <a:cs typeface="Arial"/>
              </a:rPr>
              <a:t>Offline mode</a:t>
            </a:r>
          </a:p>
        </p:txBody>
      </p:sp>
    </p:spTree>
    <p:extLst>
      <p:ext uri="{BB962C8B-B14F-4D97-AF65-F5344CB8AC3E}">
        <p14:creationId xmlns:p14="http://schemas.microsoft.com/office/powerpoint/2010/main" val="288310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98CE-0160-DD24-D559-DE945BBF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80E29CD7-9FCE-E08A-FBB3-0029EE2C124B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PROPOSED DESIGN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A3AD58-45CC-0571-BDA0-F688F558024B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Navigation &amp; Dashboard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A82F09C-36C5-90DC-5C7B-CE7FA3526902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1ADF504-C796-9D66-EE8C-B0BD2723A395}"/>
              </a:ext>
            </a:extLst>
          </p:cNvPr>
          <p:cNvGrpSpPr/>
          <p:nvPr/>
        </p:nvGrpSpPr>
        <p:grpSpPr>
          <a:xfrm>
            <a:off x="6284026" y="1395350"/>
            <a:ext cx="5169723" cy="914400"/>
            <a:chOff x="4641273" y="1227116"/>
            <a:chExt cx="5169723" cy="9144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1D9008C-DA58-5D67-CC3E-A079A6CB44C0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190BD2-4F6E-CDBE-5E60-7EDCE6A09560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612EB1-2B33-36F8-3B23-CD3104AAA586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CDAA94-81EB-8E08-F9C0-C22598585561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5" name="Text 8">
                <a:extLst>
                  <a:ext uri="{FF2B5EF4-FFF2-40B4-BE49-F238E27FC236}">
                    <a16:creationId xmlns:a16="http://schemas.microsoft.com/office/drawing/2014/main" id="{C09AB2C6-3135-2726-716C-41ADC74A2849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Search Bar</a:t>
                </a:r>
                <a:endParaRPr lang="en-US">
                  <a:solidFill>
                    <a:srgbClr val="000000"/>
                  </a:solidFill>
                  <a:latin typeface="Aptos Display"/>
                  <a:ea typeface="Calibri"/>
                  <a:cs typeface="Calibri"/>
                </a:endParaRPr>
              </a:p>
            </p:txBody>
          </p:sp>
          <p:sp>
            <p:nvSpPr>
              <p:cNvPr id="6" name="Text 9">
                <a:extLst>
                  <a:ext uri="{FF2B5EF4-FFF2-40B4-BE49-F238E27FC236}">
                    <a16:creationId xmlns:a16="http://schemas.microsoft.com/office/drawing/2014/main" id="{DC4450D5-969D-593F-95F1-078CCF416316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Users can search for files, modules, labs etc. from the Dashboard.</a:t>
                </a:r>
                <a:endParaRPr lang="en-US" sz="1400">
                  <a:latin typeface="Aptos Display"/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7ED22D-9429-ABBF-6DD0-A7F3C69F1691}"/>
              </a:ext>
            </a:extLst>
          </p:cNvPr>
          <p:cNvGrpSpPr/>
          <p:nvPr/>
        </p:nvGrpSpPr>
        <p:grpSpPr>
          <a:xfrm>
            <a:off x="6284026" y="5284517"/>
            <a:ext cx="5169723" cy="914400"/>
            <a:chOff x="4641273" y="1227116"/>
            <a:chExt cx="5169723" cy="9144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2146EA-FFC7-04D6-B6A6-953A9F6FFDFD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94693D3-DF87-B0D1-A074-2EE5E4CE3FEC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3D78FD-2972-AB62-BF65-BA40A4CC8B57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6B4F143-5443-E291-BAC2-0D008978052D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13" name="Text 8">
                <a:extLst>
                  <a:ext uri="{FF2B5EF4-FFF2-40B4-BE49-F238E27FC236}">
                    <a16:creationId xmlns:a16="http://schemas.microsoft.com/office/drawing/2014/main" id="{7A8B3321-39EE-5EC4-87D4-F9BC95EDA578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Consistent Module Layout</a:t>
                </a:r>
                <a:endParaRPr lang="en-US"/>
              </a:p>
            </p:txBody>
          </p:sp>
          <p:sp>
            <p:nvSpPr>
              <p:cNvPr id="15" name="Text 9">
                <a:extLst>
                  <a:ext uri="{FF2B5EF4-FFF2-40B4-BE49-F238E27FC236}">
                    <a16:creationId xmlns:a16="http://schemas.microsoft.com/office/drawing/2014/main" id="{83E622EC-35E9-5A1C-71D5-1A3BE29D8C40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All modules have the same layout to reduce confusing navigation.</a:t>
                </a:r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AB3350-C952-48A8-47C2-032069E56531}"/>
              </a:ext>
            </a:extLst>
          </p:cNvPr>
          <p:cNvGrpSpPr/>
          <p:nvPr/>
        </p:nvGrpSpPr>
        <p:grpSpPr>
          <a:xfrm>
            <a:off x="6284026" y="2688440"/>
            <a:ext cx="5169723" cy="914400"/>
            <a:chOff x="4641273" y="1227116"/>
            <a:chExt cx="5169723" cy="9144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FED4EC-BFBC-5283-715A-2DA14E3F1E24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D440132-DE1E-8702-2DE9-A07CC5E1A57A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88CEACE-8325-1AEF-0DF1-5EC22899CDA0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34C7EF-BF79-2A24-F8EE-61ED512959CA}"/>
                </a:ext>
              </a:extLst>
            </p:cNvPr>
            <p:cNvGrpSpPr/>
            <p:nvPr/>
          </p:nvGrpSpPr>
          <p:grpSpPr>
            <a:xfrm>
              <a:off x="4861130" y="1364713"/>
              <a:ext cx="4767185" cy="635521"/>
              <a:chOff x="4855712" y="1364713"/>
              <a:chExt cx="5613772" cy="635521"/>
            </a:xfrm>
          </p:grpSpPr>
          <p:sp>
            <p:nvSpPr>
              <p:cNvPr id="37" name="Text 8">
                <a:extLst>
                  <a:ext uri="{FF2B5EF4-FFF2-40B4-BE49-F238E27FC236}">
                    <a16:creationId xmlns:a16="http://schemas.microsoft.com/office/drawing/2014/main" id="{CA6D7513-086E-76FF-AD42-F0EE9841CFF1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Urgent Task Warning</a:t>
                </a:r>
                <a:endParaRPr lang="en-US">
                  <a:latin typeface="Aptos Display"/>
                </a:endParaRPr>
              </a:p>
            </p:txBody>
          </p:sp>
          <p:sp>
            <p:nvSpPr>
              <p:cNvPr id="42" name="Text 9">
                <a:extLst>
                  <a:ext uri="{FF2B5EF4-FFF2-40B4-BE49-F238E27FC236}">
                    <a16:creationId xmlns:a16="http://schemas.microsoft.com/office/drawing/2014/main" id="{514AC50D-AE82-9386-708C-E6DD777D27A1}"/>
                  </a:ext>
                </a:extLst>
              </p:cNvPr>
              <p:cNvSpPr/>
              <p:nvPr/>
            </p:nvSpPr>
            <p:spPr>
              <a:xfrm>
                <a:off x="4855712" y="1689338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Displays a red banner if there are tasks due within 24hrs. 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3A47CC3-E4F2-8F6E-990F-8A26DFECC5D2}"/>
              </a:ext>
            </a:extLst>
          </p:cNvPr>
          <p:cNvGrpSpPr/>
          <p:nvPr/>
        </p:nvGrpSpPr>
        <p:grpSpPr>
          <a:xfrm>
            <a:off x="6284026" y="3991427"/>
            <a:ext cx="5169723" cy="914400"/>
            <a:chOff x="4641273" y="1227116"/>
            <a:chExt cx="5169723" cy="9144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9247B8A-7D66-EEED-EAAD-B671559E3F8E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0B0DE4A-6F33-DF7F-5482-B578B04766E7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A77B03A-D6A7-A961-92EE-C3FA07C1411E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20AB391-A70D-4DBD-ED97-7ED717E1CF13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52" name="Text 8">
                <a:extLst>
                  <a:ext uri="{FF2B5EF4-FFF2-40B4-BE49-F238E27FC236}">
                    <a16:creationId xmlns:a16="http://schemas.microsoft.com/office/drawing/2014/main" id="{EE387000-AB81-DBCB-1318-22EC97A93917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Grades Summary Card</a:t>
                </a:r>
                <a:endParaRPr lang="en-US">
                  <a:latin typeface="Aptos Display"/>
                </a:endParaRPr>
              </a:p>
            </p:txBody>
          </p:sp>
          <p:sp>
            <p:nvSpPr>
              <p:cNvPr id="53" name="Text 9">
                <a:extLst>
                  <a:ext uri="{FF2B5EF4-FFF2-40B4-BE49-F238E27FC236}">
                    <a16:creationId xmlns:a16="http://schemas.microsoft.com/office/drawing/2014/main" id="{00A0FFFE-A585-5536-4D32-4A19C430E65F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Shows the overall grade based on the module grades.</a:t>
                </a:r>
                <a:endParaRPr lang="en-US" sz="1400">
                  <a:latin typeface="Aptos Display"/>
                </a:endParaRPr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FDD8353-D5C5-61A1-B421-AC742FB1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2" y="1329974"/>
            <a:ext cx="2668950" cy="53229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36FCB8B-D07C-1A56-C349-C6C0C975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979" y="1342343"/>
            <a:ext cx="2668950" cy="533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4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ADF5-5445-42CA-041A-7194AC99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22E24AE3-5251-DECE-7644-A08A88026DBD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PROPOSED DESIGN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2F32A2-86F0-D1FD-4238-9A429F229753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To-Do &amp; Grades Tab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E9E18F-C569-7FCA-E429-DEB0D635D4D1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87B9FE-8AD8-40F0-7B1E-D9235818CBB3}"/>
              </a:ext>
            </a:extLst>
          </p:cNvPr>
          <p:cNvGrpSpPr/>
          <p:nvPr/>
        </p:nvGrpSpPr>
        <p:grpSpPr>
          <a:xfrm>
            <a:off x="6610598" y="1909947"/>
            <a:ext cx="5169723" cy="914400"/>
            <a:chOff x="4641273" y="1227116"/>
            <a:chExt cx="5169723" cy="9144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64A353-3C1C-A60D-7FD0-7975DBF4CCE4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1C2D15-AA96-078E-B942-FC9CAEEFB1DF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7F5B6E2-C8E6-0818-3167-37EE633E09CF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41285A-FF72-2490-8AE8-8283C6F1F735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20" name="Text 8">
                <a:extLst>
                  <a:ext uri="{FF2B5EF4-FFF2-40B4-BE49-F238E27FC236}">
                    <a16:creationId xmlns:a16="http://schemas.microsoft.com/office/drawing/2014/main" id="{D3737781-01F6-C276-5A52-60EA3707BD75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Priority Grouping (To-Do)</a:t>
                </a:r>
                <a:endParaRPr lang="en-US">
                  <a:latin typeface="Aptos Display"/>
                </a:endParaRPr>
              </a:p>
            </p:txBody>
          </p:sp>
          <p:sp>
            <p:nvSpPr>
              <p:cNvPr id="22" name="Text 9">
                <a:extLst>
                  <a:ext uri="{FF2B5EF4-FFF2-40B4-BE49-F238E27FC236}">
                    <a16:creationId xmlns:a16="http://schemas.microsoft.com/office/drawing/2014/main" id="{D9875BF1-42F2-5DBE-79A8-A94B3BF928F3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To-Do list tasks are grouped into Urgent / Upcoming / Completed.</a:t>
                </a:r>
                <a:endParaRPr lang="en-US">
                  <a:latin typeface="Aptos Display"/>
                </a:endParaRP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041358C-10A4-4A9F-6CE6-3FB25139436D}"/>
              </a:ext>
            </a:extLst>
          </p:cNvPr>
          <p:cNvGrpSpPr/>
          <p:nvPr/>
        </p:nvGrpSpPr>
        <p:grpSpPr>
          <a:xfrm>
            <a:off x="6610598" y="3519713"/>
            <a:ext cx="5169723" cy="914400"/>
            <a:chOff x="4641273" y="1227116"/>
            <a:chExt cx="5169723" cy="9144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0F1A875-3959-056C-80F6-5FBB1A212932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45477AA-E563-2AC7-8A85-839CB784094C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CA4AB6-A8CA-8923-678C-6FD57DC32731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C9BE7AD-4CB3-2CB4-46D4-98FA39E004B1}"/>
                </a:ext>
              </a:extLst>
            </p:cNvPr>
            <p:cNvGrpSpPr/>
            <p:nvPr/>
          </p:nvGrpSpPr>
          <p:grpSpPr>
            <a:xfrm>
              <a:off x="4852059" y="1364713"/>
              <a:ext cx="4776256" cy="624801"/>
              <a:chOff x="4845030" y="1364713"/>
              <a:chExt cx="5624454" cy="624801"/>
            </a:xfrm>
          </p:grpSpPr>
          <p:sp>
            <p:nvSpPr>
              <p:cNvPr id="40" name="Text 8">
                <a:extLst>
                  <a:ext uri="{FF2B5EF4-FFF2-40B4-BE49-F238E27FC236}">
                    <a16:creationId xmlns:a16="http://schemas.microsoft.com/office/drawing/2014/main" id="{30C0E208-5C48-F567-2D24-20751A2E90DB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Status Badges</a:t>
                </a:r>
                <a:endParaRPr lang="en-US">
                  <a:latin typeface="Aptos Display"/>
                </a:endParaRPr>
              </a:p>
            </p:txBody>
          </p:sp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FDDF4E8E-8F73-C7AC-AFF4-4B5F78D621D8}"/>
                  </a:ext>
                </a:extLst>
              </p:cNvPr>
              <p:cNvSpPr/>
              <p:nvPr/>
            </p:nvSpPr>
            <p:spPr>
              <a:xfrm>
                <a:off x="4845030" y="1678618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Each task has a Not Started / In Progress / Submitted / Late.</a:t>
                </a:r>
                <a:endParaRPr lang="en-US">
                  <a:latin typeface="Aptos Display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C28BD21-7597-C64F-33AA-5F98AF3977AF}"/>
              </a:ext>
            </a:extLst>
          </p:cNvPr>
          <p:cNvGrpSpPr/>
          <p:nvPr/>
        </p:nvGrpSpPr>
        <p:grpSpPr>
          <a:xfrm>
            <a:off x="6610598" y="5129479"/>
            <a:ext cx="5169723" cy="914400"/>
            <a:chOff x="4641273" y="1227116"/>
            <a:chExt cx="5169723" cy="91440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1B26C70-03A6-5423-64FA-1F189F254C9B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DEF70F9-F904-3514-0DE3-188B3B168215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CF640D5-3EB2-D91D-C18F-4D6B912F6EEA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ptos Display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EFC140A-2F1D-5453-3A3B-395932FC1F1A}"/>
                </a:ext>
              </a:extLst>
            </p:cNvPr>
            <p:cNvGrpSpPr/>
            <p:nvPr/>
          </p:nvGrpSpPr>
          <p:grpSpPr>
            <a:xfrm>
              <a:off x="4891644" y="1364713"/>
              <a:ext cx="4736673" cy="585216"/>
              <a:chOff x="4891643" y="1364713"/>
              <a:chExt cx="5577841" cy="585216"/>
            </a:xfrm>
          </p:grpSpPr>
          <p:sp>
            <p:nvSpPr>
              <p:cNvPr id="61" name="Text 8">
                <a:extLst>
                  <a:ext uri="{FF2B5EF4-FFF2-40B4-BE49-F238E27FC236}">
                    <a16:creationId xmlns:a16="http://schemas.microsoft.com/office/drawing/2014/main" id="{CBB5E49A-EF33-755E-B65A-3C3CDA2AE393}"/>
                  </a:ext>
                </a:extLst>
              </p:cNvPr>
              <p:cNvSpPr/>
              <p:nvPr/>
            </p:nvSpPr>
            <p:spPr>
              <a:xfrm>
                <a:off x="4891643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New Grades Tab</a:t>
                </a:r>
                <a:endParaRPr lang="en-US">
                  <a:latin typeface="Aptos Display"/>
                </a:endParaRPr>
              </a:p>
            </p:txBody>
          </p:sp>
          <p:sp>
            <p:nvSpPr>
              <p:cNvPr id="62" name="Text 9">
                <a:extLst>
                  <a:ext uri="{FF2B5EF4-FFF2-40B4-BE49-F238E27FC236}">
                    <a16:creationId xmlns:a16="http://schemas.microsoft.com/office/drawing/2014/main" id="{23509D47-5FD4-9FFC-6A89-FBD755777C6C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err="1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Centralised</a:t>
                </a:r>
                <a:r>
                  <a:rPr lang="en-US" sz="1400">
                    <a:solidFill>
                      <a:srgbClr val="1E293B"/>
                    </a:solidFill>
                    <a:latin typeface="Aptos Display"/>
                    <a:ea typeface="Calibri"/>
                    <a:cs typeface="Calibri"/>
                  </a:rPr>
                  <a:t> tab displaying grades for individual &amp; overall grades.</a:t>
                </a: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E3583B-FE08-C130-93C5-2CE277AF6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97" y="1396290"/>
            <a:ext cx="2667950" cy="5396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67066-177E-83ED-B2D7-FEE6BCF3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628" y="1436511"/>
            <a:ext cx="2666381" cy="528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0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E90-05DB-DB73-5BA6-496553C5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34D118C7-E29A-AC21-4821-EF5112C71353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PROPOSED DESIGN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E28E81-06DA-F118-65B8-F7C914223269}"/>
              </a:ext>
            </a:extLst>
          </p:cNvPr>
          <p:cNvSpPr txBox="1"/>
          <p:nvPr/>
        </p:nvSpPr>
        <p:spPr>
          <a:xfrm>
            <a:off x="410097" y="677353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Accessibility &amp; UX Improvements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4374D65-93C9-0233-243B-FBF245D53273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29E1F34-CA78-44DF-4DD2-E215C697C1D5}"/>
              </a:ext>
            </a:extLst>
          </p:cNvPr>
          <p:cNvGrpSpPr/>
          <p:nvPr/>
        </p:nvGrpSpPr>
        <p:grpSpPr>
          <a:xfrm>
            <a:off x="6610598" y="2523506"/>
            <a:ext cx="5169723" cy="914400"/>
            <a:chOff x="4641273" y="1227116"/>
            <a:chExt cx="5169723" cy="9144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7E1867-68AA-E024-E85B-119C8DF9D991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58B5518-B66B-2465-A10A-3D5AA65D34BA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960F33-9A61-A292-4ADB-6019963369E3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FAAD072-2464-AC4A-443C-D5A2919F1C76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5" name="Text 8">
                <a:extLst>
                  <a:ext uri="{FF2B5EF4-FFF2-40B4-BE49-F238E27FC236}">
                    <a16:creationId xmlns:a16="http://schemas.microsoft.com/office/drawing/2014/main" id="{2A85202E-7871-60F0-0ECE-A02BA0EB4788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Dyslexia Friendly Font</a:t>
                </a:r>
                <a:endParaRPr lang="en-US"/>
              </a:p>
            </p:txBody>
          </p:sp>
          <p:sp>
            <p:nvSpPr>
              <p:cNvPr id="6" name="Text 9">
                <a:extLst>
                  <a:ext uri="{FF2B5EF4-FFF2-40B4-BE49-F238E27FC236}">
                    <a16:creationId xmlns:a16="http://schemas.microsoft.com/office/drawing/2014/main" id="{5EB1493C-74D3-546E-EA3B-F3D2336E07E5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0" i="0" u="none" strike="noStrike" baseline="0">
                    <a:solidFill>
                      <a:srgbClr val="1E293B"/>
                    </a:solidFill>
                    <a:latin typeface="Calibri"/>
                  </a:rPr>
                  <a:t>Toggle button in Settings to enable </a:t>
                </a:r>
                <a:r>
                  <a:rPr lang="en-US" sz="1400" b="0" i="0">
                    <a:latin typeface="Calibri"/>
                  </a:rPr>
                  <a:t>​</a:t>
                </a:r>
                <a:r>
                  <a:rPr lang="en-US" sz="1400">
                    <a:latin typeface="Calibri"/>
                  </a:rPr>
                  <a:t>Dyslexia-Friendly font.</a:t>
                </a:r>
                <a:endParaRPr lang="en-US" sz="1400">
                  <a:latin typeface="Calibri"/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78B96D-6270-72C0-72B8-228299A3DE3E}"/>
              </a:ext>
            </a:extLst>
          </p:cNvPr>
          <p:cNvGrpSpPr/>
          <p:nvPr/>
        </p:nvGrpSpPr>
        <p:grpSpPr>
          <a:xfrm>
            <a:off x="6610598" y="3829790"/>
            <a:ext cx="5169723" cy="914400"/>
            <a:chOff x="4641273" y="1227116"/>
            <a:chExt cx="5169723" cy="9144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74E33B2-A169-3486-D21D-1B4A305F68E8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8DF78FC-6C90-417C-27D5-3E680A93ED25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BF142B-15E8-CF68-C3AF-F90DE2DE1985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FD27B0-29B1-3F29-5580-039DCF8783FC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3C631B21-1CC5-8320-6508-99C13D96DF82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Submission Confirmation</a:t>
                </a:r>
                <a:endParaRPr lang="en-US"/>
              </a:p>
            </p:txBody>
          </p:sp>
          <p:sp>
            <p:nvSpPr>
              <p:cNvPr id="16" name="Text 9">
                <a:extLst>
                  <a:ext uri="{FF2B5EF4-FFF2-40B4-BE49-F238E27FC236}">
                    <a16:creationId xmlns:a16="http://schemas.microsoft.com/office/drawing/2014/main" id="{1BEFB5DC-16B0-77AA-5EBF-6DFC53042718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</a:rPr>
                  <a:t>Clearly visible successful submission, along with a timestamp.</a:t>
                </a:r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0BCDBD1E-9BA3-831C-0CC6-C9321733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172" y="1288987"/>
            <a:ext cx="2732737" cy="5483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F6F04-C16B-94EE-C942-3ADB3F370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8" y="1199749"/>
            <a:ext cx="2959704" cy="566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0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7E3D-A062-37F5-8539-C4B628C8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7BBE623A-0FB5-923B-0E3A-1F6F2CA328A2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PROPOSED DESIGN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BFB78-81BE-A8FF-97E0-86B368A76486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How the Design Meets the Needs of the Persona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84FE49A-8DAC-017D-F80C-95282F2835BA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7A51A1C-A14C-FFB5-C805-6A2E00F8AADE}"/>
              </a:ext>
            </a:extLst>
          </p:cNvPr>
          <p:cNvGrpSpPr/>
          <p:nvPr/>
        </p:nvGrpSpPr>
        <p:grpSpPr>
          <a:xfrm>
            <a:off x="514597" y="1375557"/>
            <a:ext cx="5169723" cy="914400"/>
            <a:chOff x="4641273" y="1227116"/>
            <a:chExt cx="5169723" cy="9144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27EE62-EC03-59C0-9609-47FC894DC316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2DDE821-659A-29F8-3ED1-3F3A9F1F5C63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0C0C756-50F8-D38D-75AF-EF3F00BADC91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FE24BDB-39CE-E32C-4CA8-E6EB4138A52A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5" name="Text 8">
                <a:extLst>
                  <a:ext uri="{FF2B5EF4-FFF2-40B4-BE49-F238E27FC236}">
                    <a16:creationId xmlns:a16="http://schemas.microsoft.com/office/drawing/2014/main" id="{286F5D56-D529-5805-C031-0546DCBBBFC3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1. Easier to Find Assignments </a:t>
                </a:r>
                <a:r>
                  <a:rPr lang="en-US">
                    <a:solidFill>
                      <a:srgbClr val="0B1F3A"/>
                    </a:solidFill>
                    <a:ea typeface="+mn-lt"/>
                    <a:cs typeface="+mn-lt"/>
                  </a:rPr>
                  <a:t>✅</a:t>
                </a:r>
                <a:endParaRPr lang="en-US"/>
              </a:p>
            </p:txBody>
          </p:sp>
          <p:sp>
            <p:nvSpPr>
              <p:cNvPr id="6" name="Text 9">
                <a:extLst>
                  <a:ext uri="{FF2B5EF4-FFF2-40B4-BE49-F238E27FC236}">
                    <a16:creationId xmlns:a16="http://schemas.microsoft.com/office/drawing/2014/main" id="{807D1493-8BB5-2183-00C4-134EBFFF2187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Calibri"/>
                  </a:rPr>
                  <a:t>Urgent tasks are shown in the dashboard for quick recognition.</a:t>
                </a:r>
                <a:endParaRPr lang="en-US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B2A24F-512C-0261-0E51-C29697D3196E}"/>
              </a:ext>
            </a:extLst>
          </p:cNvPr>
          <p:cNvGrpSpPr/>
          <p:nvPr/>
        </p:nvGrpSpPr>
        <p:grpSpPr>
          <a:xfrm>
            <a:off x="6511635" y="1375556"/>
            <a:ext cx="2179119" cy="4952034"/>
            <a:chOff x="4205843" y="841167"/>
            <a:chExt cx="2179119" cy="495203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3DE2C6-36EC-2EF9-A509-DCA4E4E66DFD}"/>
                </a:ext>
              </a:extLst>
            </p:cNvPr>
            <p:cNvGrpSpPr/>
            <p:nvPr/>
          </p:nvGrpSpPr>
          <p:grpSpPr>
            <a:xfrm>
              <a:off x="4205843" y="841167"/>
              <a:ext cx="2121725" cy="4932217"/>
              <a:chOff x="504700" y="1365661"/>
              <a:chExt cx="2121725" cy="493221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6E8260-31BA-A27D-2629-1E06219A9944}"/>
                  </a:ext>
                </a:extLst>
              </p:cNvPr>
              <p:cNvSpPr/>
              <p:nvPr/>
            </p:nvSpPr>
            <p:spPr>
              <a:xfrm>
                <a:off x="504701" y="1365661"/>
                <a:ext cx="2121724" cy="760641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5991C5A-6AAB-623A-2817-C5042F574D28}"/>
                  </a:ext>
                </a:extLst>
              </p:cNvPr>
              <p:cNvSpPr/>
              <p:nvPr/>
            </p:nvSpPr>
            <p:spPr>
              <a:xfrm>
                <a:off x="504700" y="2122760"/>
                <a:ext cx="2121724" cy="417511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D3C448-CBDB-ADE8-A77F-ABF199D80A6A}"/>
                  </a:ext>
                </a:extLst>
              </p:cNvPr>
              <p:cNvSpPr txBox="1"/>
              <p:nvPr/>
            </p:nvSpPr>
            <p:spPr>
              <a:xfrm>
                <a:off x="663036" y="1521258"/>
                <a:ext cx="1882238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2400" b="1">
                    <a:solidFill>
                      <a:schemeClr val="bg1"/>
                    </a:solidFill>
                    <a:latin typeface="Aptos Display"/>
                  </a:rPr>
                  <a:t>Frustrations</a:t>
                </a:r>
                <a:endParaRPr lang="en-GB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ACC66C-7743-D83A-1020-DFE5A019A21D}"/>
                </a:ext>
              </a:extLst>
            </p:cNvPr>
            <p:cNvSpPr txBox="1"/>
            <p:nvPr/>
          </p:nvSpPr>
          <p:spPr>
            <a:xfrm>
              <a:off x="4265216" y="1776717"/>
              <a:ext cx="2119746" cy="401648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>
                <a:buAutoNum type="arabicPeriod"/>
              </a:pPr>
              <a:r>
                <a:rPr lang="en-GB" sz="1700">
                  <a:latin typeface="Aptos Display"/>
                </a:rPr>
                <a:t>Hard to find assignments.</a:t>
              </a:r>
              <a:endParaRPr lang="en-US"/>
            </a:p>
            <a:p>
              <a:pPr marL="342900" indent="-342900">
                <a:buAutoNum type="arabicPeriod"/>
              </a:pPr>
              <a:endParaRPr lang="en-GB" sz="1700">
                <a:latin typeface="Aptos Display"/>
              </a:endParaRPr>
            </a:p>
            <a:p>
              <a:pPr marL="342900" indent="-342900">
                <a:buAutoNum type="arabicPeriod"/>
              </a:pPr>
              <a:r>
                <a:rPr lang="en-GB" sz="1700">
                  <a:latin typeface="Aptos Display"/>
                </a:rPr>
                <a:t>Confusing module layouts.</a:t>
              </a:r>
            </a:p>
            <a:p>
              <a:pPr marL="342900" indent="-342900">
                <a:buAutoNum type="arabicPeriod"/>
              </a:pPr>
              <a:endParaRPr lang="en-GB" sz="1700">
                <a:latin typeface="Aptos Display"/>
              </a:endParaRPr>
            </a:p>
            <a:p>
              <a:pPr marL="342900" indent="-342900">
                <a:buAutoNum type="arabicPeriod"/>
              </a:pPr>
              <a:r>
                <a:rPr lang="en-GB" sz="1700">
                  <a:latin typeface="Aptos Display"/>
                </a:rPr>
                <a:t>Doesn't trust submissions.</a:t>
              </a:r>
            </a:p>
            <a:p>
              <a:pPr marL="342900" indent="-342900">
                <a:buAutoNum type="arabicPeriod"/>
              </a:pPr>
              <a:endParaRPr lang="en-GB" sz="1700">
                <a:latin typeface="Aptos Display"/>
              </a:endParaRPr>
            </a:p>
            <a:p>
              <a:pPr marL="342900" indent="-342900">
                <a:buAutoNum type="arabicPeriod"/>
              </a:pPr>
              <a:r>
                <a:rPr lang="en-GB" sz="1700">
                  <a:latin typeface="Aptos Display"/>
                </a:rPr>
                <a:t>Unclear when things are due.</a:t>
              </a:r>
            </a:p>
            <a:p>
              <a:pPr marL="342900" indent="-342900">
                <a:buAutoNum type="arabicPeriod"/>
              </a:pPr>
              <a:endParaRPr lang="en-GB" sz="1700">
                <a:latin typeface="Aptos Display"/>
              </a:endParaRPr>
            </a:p>
            <a:p>
              <a:pPr marL="342900" indent="-342900">
                <a:buAutoNum type="arabicPeriod"/>
              </a:pPr>
              <a:r>
                <a:rPr lang="en-GB" sz="1700">
                  <a:latin typeface="Aptos Display"/>
                </a:rPr>
                <a:t>Cannot use the dyslexic font on mobile.</a:t>
              </a:r>
            </a:p>
          </p:txBody>
        </p:sp>
      </p:grpSp>
      <p:pic>
        <p:nvPicPr>
          <p:cNvPr id="25" name="Picture 4" descr="Character person Images - Free Download on Freepik">
            <a:extLst>
              <a:ext uri="{FF2B5EF4-FFF2-40B4-BE49-F238E27FC236}">
                <a16:creationId xmlns:a16="http://schemas.microsoft.com/office/drawing/2014/main" id="{E47DF8C2-D93F-7833-14CA-1DFB945B9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795785" y="2805478"/>
            <a:ext cx="327987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41AF54AD-5B7E-A718-E740-699873552F81}"/>
              </a:ext>
            </a:extLst>
          </p:cNvPr>
          <p:cNvGrpSpPr/>
          <p:nvPr/>
        </p:nvGrpSpPr>
        <p:grpSpPr>
          <a:xfrm>
            <a:off x="514597" y="2384959"/>
            <a:ext cx="5169723" cy="914400"/>
            <a:chOff x="4641273" y="1227116"/>
            <a:chExt cx="5169723" cy="9144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6FDF524-F2B1-9739-D5C8-0F7776FBC21D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FE9EDBB-8B25-5433-81C1-8FEF777D0A9D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7064611-1682-0CD8-F3D5-9A5190A103F6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04483A7-1EEC-D2F9-80E0-4A9C1AD8A306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30" name="Text 8">
                <a:extLst>
                  <a:ext uri="{FF2B5EF4-FFF2-40B4-BE49-F238E27FC236}">
                    <a16:creationId xmlns:a16="http://schemas.microsoft.com/office/drawing/2014/main" id="{D8118844-EB0D-54E5-E27A-91491660972A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2. </a:t>
                </a:r>
                <a:r>
                  <a:rPr lang="en-GB" b="1" noProof="0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Standardised</a:t>
                </a:r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 Module Layouts </a:t>
                </a:r>
                <a:r>
                  <a:rPr lang="en-US">
                    <a:solidFill>
                      <a:srgbClr val="0B1F3A"/>
                    </a:solidFill>
                    <a:ea typeface="+mn-lt"/>
                    <a:cs typeface="+mn-lt"/>
                  </a:rPr>
                  <a:t>✅</a:t>
                </a:r>
                <a:endParaRPr lang="en-US"/>
              </a:p>
            </p:txBody>
          </p:sp>
          <p:sp>
            <p:nvSpPr>
              <p:cNvPr id="31" name="Text 9">
                <a:extLst>
                  <a:ext uri="{FF2B5EF4-FFF2-40B4-BE49-F238E27FC236}">
                    <a16:creationId xmlns:a16="http://schemas.microsoft.com/office/drawing/2014/main" id="{B9F498F6-797B-BF33-61AE-87071DD683A4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Calibri"/>
                  </a:rPr>
                  <a:t>Every module has the same layout to reduce confusion.</a:t>
                </a:r>
                <a:endParaRPr lang="en-US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02E8AE-01BC-3B3C-5273-6A5D1CDF633E}"/>
              </a:ext>
            </a:extLst>
          </p:cNvPr>
          <p:cNvGrpSpPr/>
          <p:nvPr/>
        </p:nvGrpSpPr>
        <p:grpSpPr>
          <a:xfrm>
            <a:off x="514597" y="3394362"/>
            <a:ext cx="5169723" cy="914400"/>
            <a:chOff x="4641273" y="1227116"/>
            <a:chExt cx="5169723" cy="9144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FBD4E2E-7496-2628-3F42-F10E42CA4CEE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4E99E30-ED92-9575-2543-0652CB60D893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922E254-AD13-37CC-2210-6DA20996591D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1C1D5C2-E3E6-7C4F-23F3-4337D61A001D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37" name="Text 8">
                <a:extLst>
                  <a:ext uri="{FF2B5EF4-FFF2-40B4-BE49-F238E27FC236}">
                    <a16:creationId xmlns:a16="http://schemas.microsoft.com/office/drawing/2014/main" id="{5ABFAE8A-FFAF-F248-2C0A-EDDA17CC59FD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3. Clear Submission Screen </a:t>
                </a:r>
                <a:r>
                  <a:rPr lang="en-US">
                    <a:solidFill>
                      <a:srgbClr val="0B1F3A"/>
                    </a:solidFill>
                    <a:ea typeface="+mn-lt"/>
                    <a:cs typeface="+mn-lt"/>
                  </a:rPr>
                  <a:t>✅</a:t>
                </a:r>
                <a:endParaRPr lang="en-US"/>
              </a:p>
            </p:txBody>
          </p:sp>
          <p:sp>
            <p:nvSpPr>
              <p:cNvPr id="38" name="Text 9">
                <a:extLst>
                  <a:ext uri="{FF2B5EF4-FFF2-40B4-BE49-F238E27FC236}">
                    <a16:creationId xmlns:a16="http://schemas.microsoft.com/office/drawing/2014/main" id="{2B85AD15-580D-7395-F8CC-8D6F775BAFCC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Calibri"/>
                  </a:rPr>
                  <a:t>A large checkmark clearly indicates to the user it was successful .</a:t>
                </a:r>
                <a:endParaRPr lang="en-US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743D6A7-91B1-502A-3B50-E1D264C4FE63}"/>
              </a:ext>
            </a:extLst>
          </p:cNvPr>
          <p:cNvGrpSpPr/>
          <p:nvPr/>
        </p:nvGrpSpPr>
        <p:grpSpPr>
          <a:xfrm>
            <a:off x="514597" y="4403764"/>
            <a:ext cx="5169723" cy="914400"/>
            <a:chOff x="4641273" y="1227116"/>
            <a:chExt cx="5169723" cy="9144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28F41F8-60AA-AA0D-1861-668B9B9F08D2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13C5863-0D45-16A5-E8C5-118597D30C89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5D93C6F-9CCC-05D2-2207-3D2CFEEB84BB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8ACD657-1D19-5024-DCDB-385846A026B8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44" name="Text 8">
                <a:extLst>
                  <a:ext uri="{FF2B5EF4-FFF2-40B4-BE49-F238E27FC236}">
                    <a16:creationId xmlns:a16="http://schemas.microsoft.com/office/drawing/2014/main" id="{6E171352-16AC-4038-70FE-A60CBE2021DC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4. Intuitive Submission Deadlines </a:t>
                </a:r>
                <a:r>
                  <a:rPr lang="en-US">
                    <a:solidFill>
                      <a:srgbClr val="0B1F3A"/>
                    </a:solidFill>
                    <a:ea typeface="+mn-lt"/>
                    <a:cs typeface="+mn-lt"/>
                  </a:rPr>
                  <a:t>✅</a:t>
                </a:r>
                <a:endParaRPr lang="en-US"/>
              </a:p>
            </p:txBody>
          </p:sp>
          <p:sp>
            <p:nvSpPr>
              <p:cNvPr id="45" name="Text 9">
                <a:extLst>
                  <a:ext uri="{FF2B5EF4-FFF2-40B4-BE49-F238E27FC236}">
                    <a16:creationId xmlns:a16="http://schemas.microsoft.com/office/drawing/2014/main" id="{38D9C7D7-905F-3DD7-403F-860B135E8A01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>
                    <a:solidFill>
                      <a:srgbClr val="1E293B"/>
                    </a:solidFill>
                    <a:latin typeface="Calibri"/>
                  </a:rPr>
                  <a:t>To-Do list groups tasks based on urgency.</a:t>
                </a:r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2A062E-9C35-A474-0876-F038C839401E}"/>
              </a:ext>
            </a:extLst>
          </p:cNvPr>
          <p:cNvGrpSpPr/>
          <p:nvPr/>
        </p:nvGrpSpPr>
        <p:grpSpPr>
          <a:xfrm>
            <a:off x="514597" y="5413167"/>
            <a:ext cx="5169723" cy="914400"/>
            <a:chOff x="4641273" y="1227116"/>
            <a:chExt cx="5169723" cy="91440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35343AA-F68D-8D85-BC07-DA1DB720AEA8}"/>
                </a:ext>
              </a:extLst>
            </p:cNvPr>
            <p:cNvGrpSpPr/>
            <p:nvPr/>
          </p:nvGrpSpPr>
          <p:grpSpPr>
            <a:xfrm>
              <a:off x="4641273" y="1227116"/>
              <a:ext cx="5169723" cy="914400"/>
              <a:chOff x="4641273" y="1227116"/>
              <a:chExt cx="5169723" cy="9144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C4DD3BE-A615-1964-0006-9F8A84B13096}"/>
                  </a:ext>
                </a:extLst>
              </p:cNvPr>
              <p:cNvSpPr/>
              <p:nvPr/>
            </p:nvSpPr>
            <p:spPr>
              <a:xfrm>
                <a:off x="4641273" y="1227116"/>
                <a:ext cx="152400" cy="914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0997442-9296-7A40-499D-5DAB0FD71829}"/>
                  </a:ext>
                </a:extLst>
              </p:cNvPr>
              <p:cNvSpPr/>
              <p:nvPr/>
            </p:nvSpPr>
            <p:spPr>
              <a:xfrm>
                <a:off x="4789714" y="1227116"/>
                <a:ext cx="5021282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29B7C4-060A-966C-D115-346B86025D8C}"/>
                </a:ext>
              </a:extLst>
            </p:cNvPr>
            <p:cNvGrpSpPr/>
            <p:nvPr/>
          </p:nvGrpSpPr>
          <p:grpSpPr>
            <a:xfrm>
              <a:off x="4891644" y="1364713"/>
              <a:ext cx="4736672" cy="585216"/>
              <a:chOff x="4891644" y="1364713"/>
              <a:chExt cx="5577840" cy="585216"/>
            </a:xfrm>
          </p:grpSpPr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93C57096-5F34-5F04-6214-303A09303B8A}"/>
                  </a:ext>
                </a:extLst>
              </p:cNvPr>
              <p:cNvSpPr/>
              <p:nvPr/>
            </p:nvSpPr>
            <p:spPr>
              <a:xfrm>
                <a:off x="4891644" y="1364713"/>
                <a:ext cx="55778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rgbClr val="0B1F3A"/>
                    </a:solidFill>
                    <a:latin typeface="Calibri"/>
                    <a:ea typeface="Calibri"/>
                    <a:cs typeface="Calibri"/>
                  </a:rPr>
                  <a:t>5. Dyslexic font added </a:t>
                </a:r>
                <a:r>
                  <a:rPr lang="en-US">
                    <a:solidFill>
                      <a:srgbClr val="0B1F3A"/>
                    </a:solidFill>
                    <a:ea typeface="+mn-lt"/>
                    <a:cs typeface="+mn-lt"/>
                  </a:rPr>
                  <a:t>✅</a:t>
                </a:r>
                <a:endParaRPr lang="en-US"/>
              </a:p>
            </p:txBody>
          </p:sp>
          <p:sp>
            <p:nvSpPr>
              <p:cNvPr id="52" name="Text 9">
                <a:extLst>
                  <a:ext uri="{FF2B5EF4-FFF2-40B4-BE49-F238E27FC236}">
                    <a16:creationId xmlns:a16="http://schemas.microsoft.com/office/drawing/2014/main" id="{B9169715-7B33-C35C-8823-B7DB7A77E7EB}"/>
                  </a:ext>
                </a:extLst>
              </p:cNvPr>
              <p:cNvSpPr/>
              <p:nvPr/>
            </p:nvSpPr>
            <p:spPr>
              <a:xfrm>
                <a:off x="4891644" y="1639033"/>
                <a:ext cx="557784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0" i="0" u="none" strike="noStrike" baseline="0">
                    <a:solidFill>
                      <a:srgbClr val="1E293B"/>
                    </a:solidFill>
                    <a:latin typeface="Calibri"/>
                  </a:rPr>
                  <a:t>Toggle button in Settings to enable </a:t>
                </a:r>
                <a:r>
                  <a:rPr lang="en-US" sz="1400" b="0" i="0">
                    <a:latin typeface="Calibri"/>
                  </a:rPr>
                  <a:t>​</a:t>
                </a:r>
                <a:r>
                  <a:rPr lang="en-US" sz="1400">
                    <a:latin typeface="Calibri"/>
                  </a:rPr>
                  <a:t>Dyslexia-Friendly font.</a:t>
                </a:r>
                <a:endParaRPr lang="en-US" sz="1400">
                  <a:latin typeface="Calibri"/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1F5CC-30D6-745F-8DBF-07FC28C9E627}"/>
              </a:ext>
            </a:extLst>
          </p:cNvPr>
          <p:cNvGrpSpPr/>
          <p:nvPr/>
        </p:nvGrpSpPr>
        <p:grpSpPr>
          <a:xfrm>
            <a:off x="9460674" y="1771403"/>
            <a:ext cx="2743201" cy="959010"/>
            <a:chOff x="9233064" y="1256806"/>
            <a:chExt cx="2743201" cy="959010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E206FEC8-FDE4-40C1-E082-CA73C68D5E73}"/>
                </a:ext>
              </a:extLst>
            </p:cNvPr>
            <p:cNvSpPr/>
            <p:nvPr/>
          </p:nvSpPr>
          <p:spPr>
            <a:xfrm>
              <a:off x="9233064" y="1256806"/>
              <a:ext cx="2448295" cy="959010"/>
            </a:xfrm>
            <a:prstGeom prst="wedgeRoundRectCallou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D75B77-27A0-6937-136B-8245CAC2B316}"/>
                </a:ext>
              </a:extLst>
            </p:cNvPr>
            <p:cNvSpPr txBox="1"/>
            <p:nvPr/>
          </p:nvSpPr>
          <p:spPr>
            <a:xfrm>
              <a:off x="9233065" y="140524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i="1">
                  <a:latin typeface="Aptos Display"/>
                </a:rPr>
                <a:t>I'm so glad these issues were cleared up!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812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2CB8A-5892-F3CA-3039-B89A2DFD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3FDAD58E-0844-1B4A-BD93-A6D808458AE1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JOURNEY AS A TEAM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F78CF-964F-73DF-DE4C-F58047F5E863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Role Contributions &amp; Conflict Resolutions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60DE5A-8C18-BB9D-7DBD-C412AF142749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41D017-B3CA-CD8D-8EA1-D96E56951725}"/>
              </a:ext>
            </a:extLst>
          </p:cNvPr>
          <p:cNvGrpSpPr/>
          <p:nvPr/>
        </p:nvGrpSpPr>
        <p:grpSpPr>
          <a:xfrm>
            <a:off x="47008" y="1345884"/>
            <a:ext cx="2962067" cy="2421800"/>
            <a:chOff x="324099" y="4542326"/>
            <a:chExt cx="2744353" cy="211502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79E2EAB-C524-7B4E-C3BF-5F6586358ACB}"/>
                </a:ext>
              </a:extLst>
            </p:cNvPr>
            <p:cNvGrpSpPr/>
            <p:nvPr/>
          </p:nvGrpSpPr>
          <p:grpSpPr>
            <a:xfrm>
              <a:off x="324099" y="4542326"/>
              <a:ext cx="2744353" cy="2106866"/>
              <a:chOff x="314203" y="4772954"/>
              <a:chExt cx="2744353" cy="81735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576FB32-0D6B-A7A0-F68A-48066DB67C2F}"/>
                  </a:ext>
                </a:extLst>
              </p:cNvPr>
              <p:cNvSpPr/>
              <p:nvPr/>
            </p:nvSpPr>
            <p:spPr>
              <a:xfrm>
                <a:off x="314203" y="4774868"/>
                <a:ext cx="154442" cy="81543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63AE8A4-F3DB-D9C4-BF1B-EB77C2FF14C6}"/>
                  </a:ext>
                </a:extLst>
              </p:cNvPr>
              <p:cNvSpPr/>
              <p:nvPr/>
            </p:nvSpPr>
            <p:spPr>
              <a:xfrm>
                <a:off x="464633" y="4774868"/>
                <a:ext cx="2593923" cy="8154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17" name="Text 8">
                <a:extLst>
                  <a:ext uri="{FF2B5EF4-FFF2-40B4-BE49-F238E27FC236}">
                    <a16:creationId xmlns:a16="http://schemas.microsoft.com/office/drawing/2014/main" id="{FAB9A608-A657-9C13-FCBF-29E87E4FF513}"/>
                  </a:ext>
                </a:extLst>
              </p:cNvPr>
              <p:cNvSpPr/>
              <p:nvPr/>
            </p:nvSpPr>
            <p:spPr>
              <a:xfrm>
                <a:off x="587721" y="4772954"/>
                <a:ext cx="2332713" cy="2192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Jake – Data Analyst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3717E5-033B-0C4B-C766-A305865976FA}"/>
                </a:ext>
              </a:extLst>
            </p:cNvPr>
            <p:cNvSpPr txBox="1"/>
            <p:nvPr/>
          </p:nvSpPr>
          <p:spPr>
            <a:xfrm>
              <a:off x="504701" y="5056909"/>
              <a:ext cx="2456213" cy="16004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Aptos Display"/>
                </a:rPr>
                <a:t>Gathered all data, cross referenced insights, found and informed the team of changes to be made.</a:t>
              </a:r>
            </a:p>
            <a:p>
              <a:r>
                <a:rPr lang="en-US" sz="1400">
                  <a:latin typeface="Aptos Display"/>
                </a:rPr>
                <a:t>Collaborated with Interactive &amp; UI Designers to ensure the designs lined up with user data.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97971B9-7ED4-A928-221D-9D7E69383D45}"/>
              </a:ext>
            </a:extLst>
          </p:cNvPr>
          <p:cNvGrpSpPr/>
          <p:nvPr/>
        </p:nvGrpSpPr>
        <p:grpSpPr>
          <a:xfrm>
            <a:off x="3095008" y="1345884"/>
            <a:ext cx="2962067" cy="2412462"/>
            <a:chOff x="324099" y="4542326"/>
            <a:chExt cx="2744353" cy="210686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6398D14-31C4-9677-89D5-F3289E5838CF}"/>
                </a:ext>
              </a:extLst>
            </p:cNvPr>
            <p:cNvGrpSpPr/>
            <p:nvPr/>
          </p:nvGrpSpPr>
          <p:grpSpPr>
            <a:xfrm>
              <a:off x="324099" y="4542326"/>
              <a:ext cx="2744353" cy="2106866"/>
              <a:chOff x="314203" y="4772954"/>
              <a:chExt cx="2744353" cy="81735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782E453-D50F-BDE2-8807-041AEC472877}"/>
                  </a:ext>
                </a:extLst>
              </p:cNvPr>
              <p:cNvSpPr/>
              <p:nvPr/>
            </p:nvSpPr>
            <p:spPr>
              <a:xfrm>
                <a:off x="314203" y="4774868"/>
                <a:ext cx="154442" cy="81543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454692F-B335-ED8A-9AB6-A18C22C6FCC1}"/>
                  </a:ext>
                </a:extLst>
              </p:cNvPr>
              <p:cNvSpPr/>
              <p:nvPr/>
            </p:nvSpPr>
            <p:spPr>
              <a:xfrm>
                <a:off x="464633" y="4774868"/>
                <a:ext cx="2593923" cy="8154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59" name="Text 8">
                <a:extLst>
                  <a:ext uri="{FF2B5EF4-FFF2-40B4-BE49-F238E27FC236}">
                    <a16:creationId xmlns:a16="http://schemas.microsoft.com/office/drawing/2014/main" id="{6327FDD7-2E3D-2C07-4CA0-90E85D889964}"/>
                  </a:ext>
                </a:extLst>
              </p:cNvPr>
              <p:cNvSpPr/>
              <p:nvPr/>
            </p:nvSpPr>
            <p:spPr>
              <a:xfrm>
                <a:off x="587721" y="4772954"/>
                <a:ext cx="2332713" cy="2192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Mikolaj – Interactive Designer</a:t>
                </a:r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B8442D-F176-784E-670F-DBC8A769EE3B}"/>
                </a:ext>
              </a:extLst>
            </p:cNvPr>
            <p:cNvSpPr txBox="1"/>
            <p:nvPr/>
          </p:nvSpPr>
          <p:spPr>
            <a:xfrm>
              <a:off x="504701" y="5056909"/>
              <a:ext cx="2456213" cy="139770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Aptos Display"/>
                </a:rPr>
                <a:t>Designed how users navigate trough the app, developed sketches to outline the app's structure and layout. Colaborated with UI designer to ensure interaction designs compliment the apps visuals.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7E2EFE-EEBC-BCF9-0F76-7014B0D9E881}"/>
              </a:ext>
            </a:extLst>
          </p:cNvPr>
          <p:cNvGrpSpPr/>
          <p:nvPr/>
        </p:nvGrpSpPr>
        <p:grpSpPr>
          <a:xfrm>
            <a:off x="6143007" y="1345884"/>
            <a:ext cx="2962067" cy="2412462"/>
            <a:chOff x="324099" y="4542326"/>
            <a:chExt cx="2744353" cy="210686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C27B2B1-D9C7-72ED-4C2D-140390206B17}"/>
                </a:ext>
              </a:extLst>
            </p:cNvPr>
            <p:cNvGrpSpPr/>
            <p:nvPr/>
          </p:nvGrpSpPr>
          <p:grpSpPr>
            <a:xfrm>
              <a:off x="324099" y="4542326"/>
              <a:ext cx="2744353" cy="2106866"/>
              <a:chOff x="314203" y="4772954"/>
              <a:chExt cx="2744353" cy="81735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D410EEDD-B6F9-6C65-489B-8E39276B0F0D}"/>
                  </a:ext>
                </a:extLst>
              </p:cNvPr>
              <p:cNvSpPr/>
              <p:nvPr/>
            </p:nvSpPr>
            <p:spPr>
              <a:xfrm>
                <a:off x="314203" y="4774868"/>
                <a:ext cx="154442" cy="81543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F4E48F9-D6D4-140F-D8A5-66674F944331}"/>
                  </a:ext>
                </a:extLst>
              </p:cNvPr>
              <p:cNvSpPr/>
              <p:nvPr/>
            </p:nvSpPr>
            <p:spPr>
              <a:xfrm>
                <a:off x="464633" y="4774868"/>
                <a:ext cx="2593923" cy="8154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66" name="Text 8">
                <a:extLst>
                  <a:ext uri="{FF2B5EF4-FFF2-40B4-BE49-F238E27FC236}">
                    <a16:creationId xmlns:a16="http://schemas.microsoft.com/office/drawing/2014/main" id="{49DED294-889B-1096-71C8-F167711B8F54}"/>
                  </a:ext>
                </a:extLst>
              </p:cNvPr>
              <p:cNvSpPr/>
              <p:nvPr/>
            </p:nvSpPr>
            <p:spPr>
              <a:xfrm>
                <a:off x="587721" y="4772954"/>
                <a:ext cx="2332713" cy="2192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Stephen – UI Designer</a:t>
                </a:r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527EFB-ED26-0D01-A935-45AB29753779}"/>
                </a:ext>
              </a:extLst>
            </p:cNvPr>
            <p:cNvSpPr txBox="1"/>
            <p:nvPr/>
          </p:nvSpPr>
          <p:spPr>
            <a:xfrm>
              <a:off x="504701" y="5056909"/>
              <a:ext cx="2456213" cy="139770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Aptos Display"/>
                </a:rPr>
                <a:t>Worked on </a:t>
              </a:r>
              <a:r>
                <a:rPr lang="en-US" sz="1400" err="1">
                  <a:latin typeface="Aptos Display"/>
                </a:rPr>
                <a:t>colour</a:t>
              </a:r>
              <a:r>
                <a:rPr lang="en-US" sz="1400">
                  <a:latin typeface="Aptos Display"/>
                </a:rPr>
                <a:t> schemes, fonts and layout, designed consistent app buttons and icons, worked with the ID and DA to ensure designs meet design requirements, worked with the developer to integrate design.</a:t>
              </a:r>
              <a:endParaRPr lang="en-GB" sz="1400">
                <a:latin typeface="Aptos Display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7659ECF-49B2-3CB7-CAA5-F3EFCA44041A}"/>
              </a:ext>
            </a:extLst>
          </p:cNvPr>
          <p:cNvGrpSpPr/>
          <p:nvPr/>
        </p:nvGrpSpPr>
        <p:grpSpPr>
          <a:xfrm>
            <a:off x="9191007" y="1345883"/>
            <a:ext cx="2962067" cy="2412462"/>
            <a:chOff x="324099" y="4542326"/>
            <a:chExt cx="2744353" cy="210686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14BBB45-2793-B8AB-49A4-E2CC895DDC61}"/>
                </a:ext>
              </a:extLst>
            </p:cNvPr>
            <p:cNvGrpSpPr/>
            <p:nvPr/>
          </p:nvGrpSpPr>
          <p:grpSpPr>
            <a:xfrm>
              <a:off x="324099" y="4542326"/>
              <a:ext cx="2744353" cy="2106866"/>
              <a:chOff x="314203" y="4772954"/>
              <a:chExt cx="2744353" cy="817353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F1A6D15-FD15-B6B5-215C-536C3AC7CB16}"/>
                  </a:ext>
                </a:extLst>
              </p:cNvPr>
              <p:cNvSpPr/>
              <p:nvPr/>
            </p:nvSpPr>
            <p:spPr>
              <a:xfrm>
                <a:off x="314203" y="4774868"/>
                <a:ext cx="154442" cy="815439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D3BDD7E-BCA6-44B6-93DC-6576DDD932C7}"/>
                  </a:ext>
                </a:extLst>
              </p:cNvPr>
              <p:cNvSpPr/>
              <p:nvPr/>
            </p:nvSpPr>
            <p:spPr>
              <a:xfrm>
                <a:off x="464633" y="4774868"/>
                <a:ext cx="2593923" cy="8154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73" name="Text 8">
                <a:extLst>
                  <a:ext uri="{FF2B5EF4-FFF2-40B4-BE49-F238E27FC236}">
                    <a16:creationId xmlns:a16="http://schemas.microsoft.com/office/drawing/2014/main" id="{83BCA222-846B-1100-77C4-3C98E0384996}"/>
                  </a:ext>
                </a:extLst>
              </p:cNvPr>
              <p:cNvSpPr/>
              <p:nvPr/>
            </p:nvSpPr>
            <p:spPr>
              <a:xfrm>
                <a:off x="587721" y="4772954"/>
                <a:ext cx="2332713" cy="2192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rPr>
                  <a:t>JJ – Developer</a:t>
                </a:r>
                <a:endParaRPr lang="en-US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9A4149C-D786-E186-817F-3F86C03CC0C0}"/>
                </a:ext>
              </a:extLst>
            </p:cNvPr>
            <p:cNvSpPr txBox="1"/>
            <p:nvPr/>
          </p:nvSpPr>
          <p:spPr>
            <a:xfrm>
              <a:off x="504701" y="5056909"/>
              <a:ext cx="2456213" cy="158585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Aptos Display"/>
                </a:rPr>
                <a:t>Created a prototype mimicking Canvas, developed buttons &amp; icons, implemented new features by working closely with UID and ID while also working with DA to ensure design requirements were met. Figured out the technical feasibility of designs 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EB47618-06D6-E2D3-D4A7-9670FF53AC21}"/>
              </a:ext>
            </a:extLst>
          </p:cNvPr>
          <p:cNvGrpSpPr/>
          <p:nvPr/>
        </p:nvGrpSpPr>
        <p:grpSpPr>
          <a:xfrm>
            <a:off x="1860610" y="4119117"/>
            <a:ext cx="8340695" cy="2406813"/>
            <a:chOff x="1860610" y="4119117"/>
            <a:chExt cx="8340695" cy="24068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DD32104-4093-11C6-543B-E7297C701B5B}"/>
                </a:ext>
              </a:extLst>
            </p:cNvPr>
            <p:cNvSpPr/>
            <p:nvPr/>
          </p:nvSpPr>
          <p:spPr>
            <a:xfrm>
              <a:off x="2196918" y="4119117"/>
              <a:ext cx="8004387" cy="24068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 Display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B1F1A13-C55C-0B3A-ED88-CD4E50E86832}"/>
                </a:ext>
              </a:extLst>
            </p:cNvPr>
            <p:cNvSpPr/>
            <p:nvPr/>
          </p:nvSpPr>
          <p:spPr>
            <a:xfrm>
              <a:off x="1860610" y="4119117"/>
              <a:ext cx="336308" cy="240681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ptos Display"/>
              </a:endParaRPr>
            </a:p>
          </p:txBody>
        </p:sp>
        <p:sp>
          <p:nvSpPr>
            <p:cNvPr id="5" name="Text 8">
              <a:extLst>
                <a:ext uri="{FF2B5EF4-FFF2-40B4-BE49-F238E27FC236}">
                  <a16:creationId xmlns:a16="http://schemas.microsoft.com/office/drawing/2014/main" id="{D92889AE-9845-7A1E-F74E-D728A64736E5}"/>
                </a:ext>
              </a:extLst>
            </p:cNvPr>
            <p:cNvSpPr/>
            <p:nvPr/>
          </p:nvSpPr>
          <p:spPr>
            <a:xfrm>
              <a:off x="2361708" y="4130119"/>
              <a:ext cx="3385277" cy="4422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rPr>
                <a:t>Conflict Resolutions</a:t>
              </a:r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BAF7E5-A04D-F069-B8A7-EF034AF77B0B}"/>
                </a:ext>
              </a:extLst>
            </p:cNvPr>
            <p:cNvSpPr txBox="1"/>
            <p:nvPr/>
          </p:nvSpPr>
          <p:spPr>
            <a:xfrm>
              <a:off x="2332813" y="4508182"/>
              <a:ext cx="691173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latin typeface="Aptos Display"/>
                </a:rPr>
                <a:t>Conflict</a:t>
              </a:r>
            </a:p>
            <a:p>
              <a:r>
                <a:rPr lang="en-US" sz="1400">
                  <a:latin typeface="Aptos Display"/>
                </a:rPr>
                <a:t>Our Data Analyst lives away from Cork, and we found it difficult to arrange meet-ups.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1A0404-5BD0-E299-1D1B-33E4AF2E288A}"/>
                </a:ext>
              </a:extLst>
            </p:cNvPr>
            <p:cNvSpPr txBox="1"/>
            <p:nvPr/>
          </p:nvSpPr>
          <p:spPr>
            <a:xfrm>
              <a:off x="2332813" y="5010101"/>
              <a:ext cx="691173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latin typeface="Aptos Display"/>
                </a:rPr>
                <a:t>Resolution</a:t>
              </a:r>
            </a:p>
            <a:p>
              <a:r>
                <a:rPr lang="en-US" sz="1400">
                  <a:latin typeface="Aptos Display"/>
                </a:rPr>
                <a:t>We organized Zoom calls when we could not meet up in person.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56C65C-89A6-41BB-20BF-359E1FA25ECF}"/>
                </a:ext>
              </a:extLst>
            </p:cNvPr>
            <p:cNvSpPr txBox="1"/>
            <p:nvPr/>
          </p:nvSpPr>
          <p:spPr>
            <a:xfrm>
              <a:off x="2327689" y="5469108"/>
              <a:ext cx="691173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latin typeface="Aptos Display"/>
                </a:rPr>
                <a:t>Conflict</a:t>
              </a:r>
            </a:p>
            <a:p>
              <a:r>
                <a:rPr lang="en-US" sz="1400">
                  <a:latin typeface="Aptos Display"/>
                </a:rPr>
                <a:t>We had disputes on where things should go within the PowerPoint and the prototype.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6E4734-0D4E-7952-0185-D6084BCEAE81}"/>
                </a:ext>
              </a:extLst>
            </p:cNvPr>
            <p:cNvSpPr txBox="1"/>
            <p:nvPr/>
          </p:nvSpPr>
          <p:spPr>
            <a:xfrm>
              <a:off x="2327689" y="5971027"/>
              <a:ext cx="753662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latin typeface="Aptos Display"/>
                </a:rPr>
                <a:t>Resolution</a:t>
              </a:r>
            </a:p>
            <a:p>
              <a:r>
                <a:rPr lang="en-US" sz="1400">
                  <a:latin typeface="Aptos Display"/>
                </a:rPr>
                <a:t>We heard each other out in a democratic setting and chose the best option that suited all of us.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25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C1854-042D-FE71-4088-9B8401E0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2">
            <a:extLst>
              <a:ext uri="{FF2B5EF4-FFF2-40B4-BE49-F238E27FC236}">
                <a16:creationId xmlns:a16="http://schemas.microsoft.com/office/drawing/2014/main" id="{D8CB062C-E267-D679-575C-CDBA8A9E1C00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LESSONS LEARNED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7F6BF-5D14-ADE5-B6F7-9CBAFD44B3EA}"/>
              </a:ext>
            </a:extLst>
          </p:cNvPr>
          <p:cNvSpPr txBox="1"/>
          <p:nvPr/>
        </p:nvSpPr>
        <p:spPr>
          <a:xfrm>
            <a:off x="404340" y="757568"/>
            <a:ext cx="1118754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B1F3A"/>
                </a:solidFill>
                <a:latin typeface="Aptos Display"/>
                <a:ea typeface="Calibri"/>
                <a:cs typeface="Calibri"/>
              </a:rPr>
              <a:t>Most Important Lessons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754F8DF-AE80-8C6A-9E15-BEEEFAC8B5F3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B291008-FC05-029B-C62A-8F7FCE3EF1DA}"/>
              </a:ext>
            </a:extLst>
          </p:cNvPr>
          <p:cNvGrpSpPr/>
          <p:nvPr/>
        </p:nvGrpSpPr>
        <p:grpSpPr>
          <a:xfrm>
            <a:off x="475155" y="1397689"/>
            <a:ext cx="8340695" cy="2406813"/>
            <a:chOff x="475155" y="1397689"/>
            <a:chExt cx="8340695" cy="240681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55A578-4C9F-7D63-3462-6F484009BD3D}"/>
                </a:ext>
              </a:extLst>
            </p:cNvPr>
            <p:cNvGrpSpPr/>
            <p:nvPr/>
          </p:nvGrpSpPr>
          <p:grpSpPr>
            <a:xfrm>
              <a:off x="475155" y="1397689"/>
              <a:ext cx="8340695" cy="2406813"/>
              <a:chOff x="1860610" y="4119117"/>
              <a:chExt cx="8340695" cy="240681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57924E7-9417-C342-8422-6A9F06D6C2C9}"/>
                  </a:ext>
                </a:extLst>
              </p:cNvPr>
              <p:cNvSpPr/>
              <p:nvPr/>
            </p:nvSpPr>
            <p:spPr>
              <a:xfrm>
                <a:off x="2196918" y="4119117"/>
                <a:ext cx="8004387" cy="24068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8892E9-3D85-4EF3-3311-9470132E0B02}"/>
                  </a:ext>
                </a:extLst>
              </p:cNvPr>
              <p:cNvSpPr/>
              <p:nvPr/>
            </p:nvSpPr>
            <p:spPr>
              <a:xfrm>
                <a:off x="1860610" y="4119117"/>
                <a:ext cx="336308" cy="240681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ptos Display"/>
                </a:endParaRPr>
              </a:p>
            </p:txBody>
          </p:sp>
          <p:sp>
            <p:nvSpPr>
              <p:cNvPr id="7" name="Text 8">
                <a:extLst>
                  <a:ext uri="{FF2B5EF4-FFF2-40B4-BE49-F238E27FC236}">
                    <a16:creationId xmlns:a16="http://schemas.microsoft.com/office/drawing/2014/main" id="{BC88DDC6-D11E-0E1D-1247-4BDECDB6C3E0}"/>
                  </a:ext>
                </a:extLst>
              </p:cNvPr>
              <p:cNvSpPr/>
              <p:nvPr/>
            </p:nvSpPr>
            <p:spPr>
              <a:xfrm>
                <a:off x="2361708" y="4130119"/>
                <a:ext cx="3385277" cy="4422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b="1">
                  <a:solidFill>
                    <a:srgbClr val="0B1F3A"/>
                  </a:solidFill>
                  <a:latin typeface="Aptos Display"/>
                  <a:ea typeface="Calibri"/>
                  <a:cs typeface="Calibri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2FA488-DEBB-4D91-8EB0-A613AF75727C}"/>
                </a:ext>
              </a:extLst>
            </p:cNvPr>
            <p:cNvSpPr txBox="1"/>
            <p:nvPr/>
          </p:nvSpPr>
          <p:spPr>
            <a:xfrm>
              <a:off x="851064" y="1494311"/>
              <a:ext cx="7216238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,Sans-Serif"/>
                <a:buChar char="•"/>
              </a:pPr>
              <a:r>
                <a:rPr lang="en-US">
                  <a:latin typeface="Aptos"/>
                </a:rPr>
                <a:t>We learned that clear communication early on is very beneficial and helps with keeping a steady workflow.</a:t>
              </a:r>
            </a:p>
            <a:p>
              <a:pPr marL="285750" indent="-285750">
                <a:buFont typeface="Arial,Sans-Serif"/>
                <a:buChar char="•"/>
              </a:pPr>
              <a:endParaRPr lang="en-US">
                <a:latin typeface="Aptos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US">
                  <a:latin typeface="Aptos"/>
                </a:rPr>
                <a:t>Sharing responsibility improved teamwork and ensured we reached deadlines on time.</a:t>
              </a:r>
            </a:p>
            <a:p>
              <a:pPr marL="285750" indent="-285750">
                <a:buFont typeface="Arial,Sans-Serif"/>
                <a:buChar char="•"/>
              </a:pPr>
              <a:endParaRPr lang="en-US">
                <a:latin typeface="Aptos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US">
                  <a:latin typeface="Aptos"/>
                </a:rPr>
                <a:t>We learned that getting different perspectives from team members  was highly important before starting any task.</a:t>
              </a:r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2E74E9-B216-141C-8292-768C3CB25054}"/>
              </a:ext>
            </a:extLst>
          </p:cNvPr>
          <p:cNvGrpSpPr/>
          <p:nvPr/>
        </p:nvGrpSpPr>
        <p:grpSpPr>
          <a:xfrm>
            <a:off x="475155" y="3931091"/>
            <a:ext cx="8340695" cy="2578129"/>
            <a:chOff x="475155" y="3931091"/>
            <a:chExt cx="8340695" cy="257812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AD0F24-AF8B-6D8D-C0CA-E61F104A03AB}"/>
                </a:ext>
              </a:extLst>
            </p:cNvPr>
            <p:cNvGrpSpPr/>
            <p:nvPr/>
          </p:nvGrpSpPr>
          <p:grpSpPr>
            <a:xfrm>
              <a:off x="475155" y="3931091"/>
              <a:ext cx="8340695" cy="2406813"/>
              <a:chOff x="475155" y="1397689"/>
              <a:chExt cx="8340695" cy="2406813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79F7788-131E-5338-3F6E-7AB24C555687}"/>
                  </a:ext>
                </a:extLst>
              </p:cNvPr>
              <p:cNvGrpSpPr/>
              <p:nvPr/>
            </p:nvGrpSpPr>
            <p:grpSpPr>
              <a:xfrm>
                <a:off x="475155" y="1397689"/>
                <a:ext cx="8340695" cy="2406813"/>
                <a:chOff x="1860610" y="4119117"/>
                <a:chExt cx="8340695" cy="2406813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4ABA9EA-791B-4F42-05FE-1FB208953561}"/>
                    </a:ext>
                  </a:extLst>
                </p:cNvPr>
                <p:cNvSpPr/>
                <p:nvPr/>
              </p:nvSpPr>
              <p:spPr>
                <a:xfrm>
                  <a:off x="2196918" y="4119117"/>
                  <a:ext cx="8004387" cy="2406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Aptos Display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CF235C5-8136-580F-A317-3CE61E456327}"/>
                    </a:ext>
                  </a:extLst>
                </p:cNvPr>
                <p:cNvSpPr/>
                <p:nvPr/>
              </p:nvSpPr>
              <p:spPr>
                <a:xfrm>
                  <a:off x="1860610" y="4119117"/>
                  <a:ext cx="336308" cy="240681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Aptos Display"/>
                  </a:endParaRPr>
                </a:p>
              </p:txBody>
            </p:sp>
            <p:sp>
              <p:nvSpPr>
                <p:cNvPr id="29" name="Text 8">
                  <a:extLst>
                    <a:ext uri="{FF2B5EF4-FFF2-40B4-BE49-F238E27FC236}">
                      <a16:creationId xmlns:a16="http://schemas.microsoft.com/office/drawing/2014/main" id="{62C82722-3A8D-E194-9644-6D4766C1DF04}"/>
                    </a:ext>
                  </a:extLst>
                </p:cNvPr>
                <p:cNvSpPr/>
                <p:nvPr/>
              </p:nvSpPr>
              <p:spPr>
                <a:xfrm>
                  <a:off x="2361708" y="4130119"/>
                  <a:ext cx="3385277" cy="44227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GB" b="1">
                    <a:solidFill>
                      <a:srgbClr val="0B1F3A"/>
                    </a:solidFill>
                    <a:latin typeface="Aptos Display"/>
                    <a:ea typeface="Calibri"/>
                    <a:cs typeface="Calibri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67A6CE-995B-0E68-F887-C022C40F5656}"/>
                  </a:ext>
                </a:extLst>
              </p:cNvPr>
              <p:cNvSpPr txBox="1"/>
              <p:nvPr/>
            </p:nvSpPr>
            <p:spPr>
              <a:xfrm>
                <a:off x="851064" y="1494311"/>
                <a:ext cx="7216238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>
                    <a:latin typeface="Aptos"/>
                  </a:rPr>
                  <a:t>How this group experience will influence future projects: </a:t>
                </a:r>
                <a:endParaRPr lang="en-US" sz="2000">
                  <a:latin typeface="Aptos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E0BBE21-578D-33D9-4B1A-DA0D5E56BDFE}"/>
                </a:ext>
              </a:extLst>
            </p:cNvPr>
            <p:cNvSpPr txBox="1"/>
            <p:nvPr/>
          </p:nvSpPr>
          <p:spPr>
            <a:xfrm>
              <a:off x="870857" y="4200896"/>
              <a:ext cx="7441870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lvl="0" indent="-285750" algn="l" rtl="0">
                <a:buFont typeface="Arial,Sans-Serif"/>
                <a:buChar char="•"/>
              </a:pPr>
              <a:endParaRPr lang="en-US" b="0" i="0">
                <a:latin typeface="Arial"/>
                <a:ea typeface="Arial"/>
                <a:cs typeface="Arial"/>
              </a:endParaRPr>
            </a:p>
            <a:p>
              <a:pPr marL="285750" lvl="0" indent="-285750" algn="l" rtl="0">
                <a:buFont typeface="Arial,Sans-Serif"/>
                <a:buChar char="•"/>
              </a:pPr>
              <a:r>
                <a:rPr lang="en-US" sz="1800" b="0" i="0" u="none" strike="noStrike" baseline="0">
                  <a:solidFill>
                    <a:srgbClr val="000000"/>
                  </a:solidFill>
                  <a:latin typeface="Aptos"/>
                  <a:ea typeface="Arial"/>
                  <a:cs typeface="Arial"/>
                </a:rPr>
                <a:t>We will ensure that we agree on goals before starting any tasks.</a:t>
              </a:r>
              <a:r>
                <a:rPr lang="en-US" sz="1800" b="0" i="0">
                  <a:latin typeface="Aptos"/>
                  <a:ea typeface="Arial"/>
                  <a:cs typeface="Arial"/>
                </a:rPr>
                <a:t>​</a:t>
              </a:r>
            </a:p>
            <a:p>
              <a:pPr marL="285750" lvl="0" indent="-285750" algn="l" rtl="0">
                <a:buFont typeface="Arial,Sans-Serif"/>
                <a:buChar char="•"/>
              </a:pPr>
              <a:endParaRPr lang="en-US" b="0" i="0">
                <a:latin typeface="Arial"/>
                <a:ea typeface="Arial"/>
                <a:cs typeface="Arial"/>
              </a:endParaRPr>
            </a:p>
            <a:p>
              <a:pPr marL="285750" lvl="0" indent="-285750" algn="l" rtl="0">
                <a:buFont typeface="Arial,Sans-Serif"/>
                <a:buChar char="•"/>
              </a:pPr>
              <a:r>
                <a:rPr lang="en-US" sz="1800" b="0" i="0" u="none" strike="noStrike" baseline="0">
                  <a:solidFill>
                    <a:srgbClr val="000000"/>
                  </a:solidFill>
                  <a:latin typeface="Aptos"/>
                  <a:ea typeface="Arial"/>
                  <a:cs typeface="Arial"/>
                </a:rPr>
                <a:t>We will value user feedback over personal opinions.</a:t>
              </a:r>
              <a:r>
                <a:rPr lang="en-US" sz="1800" b="0" i="0">
                  <a:latin typeface="Aptos"/>
                  <a:ea typeface="Arial"/>
                  <a:cs typeface="Arial"/>
                </a:rPr>
                <a:t>​</a:t>
              </a:r>
            </a:p>
            <a:p>
              <a:pPr marL="285750" lvl="0" indent="-285750" algn="l" rtl="0">
                <a:buFont typeface="Arial,Sans-Serif"/>
                <a:buChar char="•"/>
              </a:pPr>
              <a:endParaRPr lang="en-US" b="0" i="0">
                <a:latin typeface="Arial"/>
                <a:ea typeface="Arial"/>
                <a:cs typeface="Arial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US" sz="1800" b="0" i="0" u="none" strike="noStrike" baseline="0">
                  <a:solidFill>
                    <a:srgbClr val="000000"/>
                  </a:solidFill>
                  <a:latin typeface="Aptos"/>
                  <a:ea typeface="Arial"/>
                  <a:cs typeface="Arial"/>
                </a:rPr>
                <a:t>We will contribute </a:t>
              </a:r>
              <a:r>
                <a:rPr lang="en-US">
                  <a:solidFill>
                    <a:srgbClr val="000000"/>
                  </a:solidFill>
                  <a:latin typeface="Aptos"/>
                  <a:ea typeface="Arial"/>
                  <a:cs typeface="Arial"/>
                </a:rPr>
                <a:t>consistently from the start to</a:t>
              </a:r>
              <a:r>
                <a:rPr lang="en-US" sz="1800" b="0" i="0" u="none" strike="noStrike" baseline="0">
                  <a:solidFill>
                    <a:srgbClr val="000000"/>
                  </a:solidFill>
                  <a:latin typeface="Aptos"/>
                  <a:ea typeface="Arial"/>
                  <a:cs typeface="Arial"/>
                </a:rPr>
                <a:t> avoid last minute issues. </a:t>
              </a:r>
            </a:p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18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AE254-6155-6102-6E2F-FCFFCCDC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1EB0F8-6512-8958-065D-318628DFC937}"/>
              </a:ext>
            </a:extLst>
          </p:cNvPr>
          <p:cNvCxnSpPr/>
          <p:nvPr/>
        </p:nvCxnSpPr>
        <p:spPr>
          <a:xfrm>
            <a:off x="0" y="61196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2">
            <a:extLst>
              <a:ext uri="{FF2B5EF4-FFF2-40B4-BE49-F238E27FC236}">
                <a16:creationId xmlns:a16="http://schemas.microsoft.com/office/drawing/2014/main" id="{35BA33C7-2C38-FCA9-8BD4-A5D8BEA2B21E}"/>
              </a:ext>
            </a:extLst>
          </p:cNvPr>
          <p:cNvSpPr/>
          <p:nvPr/>
        </p:nvSpPr>
        <p:spPr>
          <a:xfrm>
            <a:off x="502920" y="20029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spc="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Q&amp;A SESSION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AB7D5-B6C6-BA91-54D4-216CA9F1DA1C}"/>
              </a:ext>
            </a:extLst>
          </p:cNvPr>
          <p:cNvSpPr txBox="1"/>
          <p:nvPr/>
        </p:nvSpPr>
        <p:spPr>
          <a:xfrm>
            <a:off x="2434442" y="2830285"/>
            <a:ext cx="66818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 i="1">
                <a:latin typeface="Aptos Display"/>
              </a:rPr>
              <a:t>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09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991</Words>
  <Application>Microsoft Office PowerPoint</Application>
  <PresentationFormat>Widescreen</PresentationFormat>
  <Paragraphs>199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Arial,Sans-Serif</vt:lpstr>
      <vt:lpstr>Calibri</vt:lpstr>
      <vt:lpstr>Office Theme</vt:lpstr>
      <vt:lpstr>BSCCS-GROUP_01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Joseph Sparks (Umail)</dc:creator>
  <cp:lastModifiedBy>Stephen Landers (Umail)</cp:lastModifiedBy>
  <cp:revision>2</cp:revision>
  <dcterms:created xsi:type="dcterms:W3CDTF">2026-03-31T12:40:44Z</dcterms:created>
  <dcterms:modified xsi:type="dcterms:W3CDTF">2026-09-24T18:21:41Z</dcterms:modified>
</cp:coreProperties>
</file>